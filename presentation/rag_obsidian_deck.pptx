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48640" y="1014984"/>
            <a:ext cx="2697480" cy="44805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14984"/>
            <a:ext cx="2697480" cy="4480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OBSIDIAN PLUGIN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75617"/>
            <a:ext cx="11242822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6000"/>
              </a:lnSpc>
            </a:pPr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RAG Obsidian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437503"/>
            <a:ext cx="1645920" cy="4572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3704874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 spc="-20">
                <a:solidFill>
                  <a:srgbClr val="2B5148"/>
                </a:solidFill>
                <a:latin typeface="Pretendard"/>
                <a:ea typeface="Pretendard"/>
                <a:cs typeface="Pretendard"/>
              </a:rPr>
              <a:t>내 논문 서재가 그대로 AI 검색엔진이 된다</a:t>
            </a:r>
          </a:p>
          <a:p>
            <a:pPr algn="l">
              <a:spcBef>
                <a:spcPts val="400"/>
              </a:spcBef>
            </a:pPr>
            <a:r>
              <a:rPr sz="1500" b="0" i="0" spc="-15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Obsidian 위에서 · 내 컴퓨터 안에서 · 답은 늘 출처와 함께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553712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66229" y="5102352"/>
            <a:ext cx="5029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600" b="0" i="0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분당서울대학교병원 정형외과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66229" y="5440680"/>
            <a:ext cx="5029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800" b="1" i="0" spc="-28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박상민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2216" y="6378122"/>
            <a:ext cx="73152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연구실 세미나  |  2026.06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OPENING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답은 술술 나오는데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출처가 가짜다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AI에 물으면 그럴듯한 답 — 인용은 지어낸 것. 정작 내 서재는 뜻으로 못 뒤진다.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BACKGROUND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AI는 출처를 지어내고, 내 노트는 뜻으로 못 찾는다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8882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8882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AI 챗봇에 물으면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882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답은 그럴듯한데
인용이 가짜다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882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없는 DOI를 지어내고, 출처를 확인할 수 없다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29934" y="1701789"/>
            <a:ext cx="5209611" cy="3246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95694" y="1994397"/>
            <a:ext cx="640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 spc="-32">
                <a:solidFill>
                  <a:srgbClr val="C82014"/>
                </a:solidFill>
                <a:latin typeface="Pretendard"/>
                <a:ea typeface="Pretendard"/>
                <a:cs typeface="Pretendard"/>
              </a:rPr>
              <a:t>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5694" y="2689341"/>
            <a:ext cx="44780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내 노트·PDF를 뒤지면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5694" y="3073389"/>
            <a:ext cx="4478091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400" b="1" i="0" spc="-24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단어가 같아야
겨우 찾힌다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5694" y="4188957"/>
            <a:ext cx="4478091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뜻이 같아도 표현이 다르면 놓친다 — 의미로 못 찾는다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필요한 건 — 내 서재 안에서, 뜻으로 찾아, 진짜 출처와 함께 답하는 도구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THE IDEA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86000"/>
            <a:ext cx="11064240" cy="2560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내 논문 서재가</a:t>
            </a:r>
          </a:p>
          <a:p>
            <a:pPr algn="ctr">
              <a:lnSpc>
                <a:spcPts val="6400"/>
              </a:lnSpc>
            </a:pPr>
            <a:r>
              <a:rPr sz="5600" b="1" i="0" spc="-56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곧 검색엔진이다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0292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600" b="0" i="1" spc="-16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논문 1편 = 노트 1개. 그 노트들이 그대로 AI가 답하는 근거가 된다 — Zotero도, 서버도 없이.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한 개가 곧 데이터베이스의 한 줄이다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References/ 폴더의 마크다운 노트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6126480" cy="393192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7442" y="1857237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References / </a:t>
            </a: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7442" y="2296149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3162" y="2460741"/>
            <a:ext cx="54864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Deep learning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author: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 Y · Bengio Y · Hinton G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issued: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2015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container-title: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Nature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DOI: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  <a:p>
            <a:pPr algn="l">
              <a:lnSpc>
                <a:spcPts val="2000"/>
              </a:lnSpc>
              <a:spcBef>
                <a:spcPts val="2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type:  </a:t>
            </a:r>
            <a:r>
              <a:rPr sz="1300" b="0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article-journal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7442" y="4563861"/>
            <a:ext cx="5577840" cy="12801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83162" y="4691877"/>
            <a:ext cx="5486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1600"/>
              </a:lnSpc>
            </a:pPr>
            <a:r>
              <a:rPr sz="1200" b="1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## Abstract</a:t>
            </a:r>
          </a:p>
          <a:p>
            <a:pPr algn="l">
              <a:lnSpc>
                <a:spcPts val="1600"/>
              </a:lnSpc>
              <a:spcBef>
                <a:spcPts val="200"/>
              </a:spcBef>
            </a:pPr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Deep learning lets computational models learn representations of data with multiple levels of abstraction…</a:t>
            </a:r>
          </a:p>
        </p:txBody>
      </p:sp>
      <p:sp>
        <p:nvSpPr>
          <p:cNvPr id="15" name="Oval 14"/>
          <p:cNvSpPr/>
          <p:nvPr/>
        </p:nvSpPr>
        <p:spPr>
          <a:xfrm>
            <a:off x="7164506" y="1729221"/>
            <a:ext cx="384048" cy="384048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64506" y="172922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2290" y="167435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파일 이름 = 인용키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노트 한 개 = 논문 한 편</a:t>
            </a:r>
          </a:p>
        </p:txBody>
      </p:sp>
      <p:sp>
        <p:nvSpPr>
          <p:cNvPr id="18" name="Oval 17"/>
          <p:cNvSpPr/>
          <p:nvPr/>
        </p:nvSpPr>
        <p:spPr>
          <a:xfrm>
            <a:off x="7164506" y="3055101"/>
            <a:ext cx="384048" cy="384048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64506" y="305510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22290" y="300023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맨 위 = 메타데이터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저자·연도·DOI를 표준 형식(CSL-JSON)으로. EndNote가 숨겨 두는 걸 사람이 읽는 평문으로.</a:t>
            </a:r>
          </a:p>
        </p:txBody>
      </p:sp>
      <p:sp>
        <p:nvSpPr>
          <p:cNvPr id="21" name="Oval 20"/>
          <p:cNvSpPr/>
          <p:nvPr/>
        </p:nvSpPr>
        <p:spPr>
          <a:xfrm>
            <a:off x="7164506" y="4380981"/>
            <a:ext cx="384048" cy="384048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64506" y="4380981"/>
            <a:ext cx="38404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 spc="-16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2290" y="4326117"/>
            <a:ext cx="3817254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2000"/>
              </a:lnSpc>
            </a:pPr>
            <a:r>
              <a:rPr sz="1600" b="1" i="0" spc="-16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본문 = 검색·채팅이 읽는 글</a:t>
            </a:r>
          </a:p>
          <a:p>
            <a:pPr algn="l">
              <a:lnSpc>
                <a:spcPts val="1800"/>
              </a:lnSpc>
              <a:spcBef>
                <a:spcPts val="400"/>
              </a:spcBef>
            </a:pPr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초록·메모·메인 텍스트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평범한 .md 파일 하나 = 데이터베이스의 한 줄. 플러그인을 지워도 내 데이터는 남는다.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흐름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붙여넣기 한 번이면 출처 달린 답까지 간다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실제 사용 흐름 예시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663773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63773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2850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DOI 붙여넣기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7714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9154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10.1038/nature14539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5048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87384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488035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8035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7112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노트 자동 생성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1976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43416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50" b="1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lecun2015deep.md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0" i="0" spc="-11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제목·저자·초록 자동 채움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09309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11646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312296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2296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21374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서재에 질문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6238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67677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“표현 학습이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300" b="1" i="0" spc="-13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뭐였지?”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3571" y="3100821"/>
            <a:ext cx="38404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35907" y="1820661"/>
            <a:ext cx="2403637" cy="31089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143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136558" y="2058405"/>
            <a:ext cx="402336" cy="402336"/>
          </a:xfrm>
          <a:prstGeom prst="ellipse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136558" y="2058405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 spc="-18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45635" y="2643621"/>
            <a:ext cx="2184181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900"/>
              </a:lnSpc>
            </a:pPr>
            <a:r>
              <a:rPr sz="1500" b="1" i="0" spc="-15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출처 달린 답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300499" y="3301989"/>
            <a:ext cx="2074453" cy="1444751"/>
          </a:xfrm>
          <a:prstGeom prst="roundRect">
            <a:avLst>
              <a:gd name="adj" fmla="val 8000"/>
            </a:avLst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391939" y="3393429"/>
            <a:ext cx="1891573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16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“…계층적 표현을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학습한다 [1]”</a:t>
            </a:r>
          </a:p>
          <a:p>
            <a:pPr algn="ctr">
              <a:lnSpc>
                <a:spcPts val="1600"/>
              </a:lnSpc>
              <a:spcBef>
                <a:spcPts val="400"/>
              </a:spcBef>
            </a:pPr>
            <a:r>
              <a:rPr sz="1150" b="1" i="0" spc="-11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[1] LeCun 2015 → 노트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붙여넣기 → 노트 → 질문 → 출처 달린 답. 서버 없이, 내 컴퓨터 안에서 한 흐름으로.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한 플러그인 안에 네 가지: 서재·검색·채팅·그래프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3122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557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557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LIBRARY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서재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Zotero 대체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DOI/PMID/arXiv
→ 마크다운 노트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32520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432520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47955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47955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SEARCH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3960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단어+뜻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하이브리드
+ 메타데이터 필터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1918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1918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617352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17352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CHAT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3358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채팅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기반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구절 인용 [n]
→ 서식 출처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71315" y="1747509"/>
            <a:ext cx="2568229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71315" y="1747509"/>
            <a:ext cx="2568229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9386750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86750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GRAPH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62755" y="2616189"/>
            <a:ext cx="2385349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관련 ·
놓친 논문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추가로: PDF 임포트 · @인용 자동완성 · 참고문헌 자동생성 · 온톨로지(분류체계) 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검색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검색은 단어와 뜻을 함께 본다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하이브리드 검색 · 임베딩 provider 3종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단어로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정확한 용어 매칭 — 똑똑해진 Ctrl+F (BM25)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F2F0EB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뜻으로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의미가 가까우면 매칭 — 'MI'로 검색해도 'myocardial infarction'을 찾음 (벡터 임베딩)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D4E9E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+ 필터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저자·연도·저널로 좁히기 (노트 맨 위 메타데이터)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단어 + 뜻 + 메타데이터를 한 번에 — 전부 로컬·무료. 필요하면 인용 그래프로 확장.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채팅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모든 답은 내 서재의 진짜 구절을 인용한다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근거 기반(RAG) 채팅 파이프라인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3162" y="1656069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 검색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57682" y="1656069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질문 → 내 서재에서 관련 구절만 회수 (서재 밖은 보지 않음)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3122" y="2780781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F2F0EB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3162" y="2780781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② 근거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57682" y="2780781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LLM이 그 구절로만 답하고, 문장마다 [n] 표시 — 출처 없는 주장 금지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3122" y="3905493"/>
            <a:ext cx="10876422" cy="960120"/>
          </a:xfrm>
          <a:prstGeom prst="roundRect">
            <a:avLst>
              <a:gd name="adj" fmla="val 5000"/>
            </a:avLst>
          </a:prstGeom>
          <a:solidFill>
            <a:srgbClr val="D4E9E2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3162" y="3905493"/>
            <a:ext cx="182880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 spc="-15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③ 인용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57682" y="3905493"/>
            <a:ext cx="8316102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ts val="2100"/>
              </a:lnSpc>
            </a:pPr>
            <a:r>
              <a:rPr sz="1500" b="0" i="0" spc="-15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[n] → APA·Vancouver 서식으로, 클릭하면 원문 노트로 이동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1682" y="5048493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0282" y="5048493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슬라이드 2의 '가짜 인용' 문제 해결 — 모든 [n]은 내 서재의 진짜 구절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HOW · 그래프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인용 그래프가 '내가 놓친 논문'을 찾아준다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테스트 vault 4편 · OpenAlex (2.5억 편) 라이브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3122" y="1656069"/>
            <a:ext cx="5655739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000"/>
              </a:lnSpc>
            </a:pPr>
            <a:r>
              <a:rPr sz="2200" b="1" i="0" spc="-2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OpenAlex 인용 데이터로
서재의 '인용 지도'를 그린다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내 논문들이 서로 인용하는 관계 = 지도의 선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여러 번 인용되는데 내겐 없는 논문 = 놓친 논문</a:t>
            </a:r>
          </a:p>
          <a:p>
            <a:pPr>
              <a:lnSpc>
                <a:spcPts val="2600"/>
              </a:lnSpc>
              <a:spcBef>
                <a:spcPts val="14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● </a:t>
            </a:r>
            <a:r>
              <a:rPr sz="1600" b="0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다음에 뭘 읽을지 — LLM 비용 0으로</a:t>
            </a:r>
          </a:p>
        </p:txBody>
      </p:sp>
      <p:pic>
        <p:nvPicPr>
          <p:cNvPr id="10" name="Picture 9" descr="grap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3182" y="1564629"/>
            <a:ext cx="3984752" cy="338328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실데이터: 4편만 넣어도 핵심 누락 논문 9편 자동 발굴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서지 도구도 AI 도구도 못 하던 일을 한 번에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Smart Connections 5.1k★ · Copilot 7.1k★ · Citation 1.3k★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63122" y="1656069"/>
          <a:ext cx="10876422" cy="3520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291840"/>
                <a:gridCol w="2528194"/>
                <a:gridCol w="2528194"/>
                <a:gridCol w="2528194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기능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서지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AI/RAG 플러그인</a:t>
                      </a:r>
                    </a:p>
                  </a:txBody>
                  <a:tcPr marL="91440" marT="27432" marB="27432" anchor="ctr">
                    <a:solidFill>
                      <a:srgbClr val="F9F9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 spc="-12">
                          <a:solidFill>
                            <a:srgbClr val="FFFFFF"/>
                          </a:solidFill>
                          <a:latin typeface="Pretendard"/>
                          <a:ea typeface="Pretendard"/>
                          <a:cs typeface="Pretendard"/>
                        </a:rPr>
                        <a:t>RAG Obsidian</a:t>
                      </a:r>
                    </a:p>
                  </a:txBody>
                  <a:tcPr marL="91440" marT="27432" marB="27432" anchor="ctr">
                    <a:solidFill>
                      <a:srgbClr val="00754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의미(뜻) 검색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저자·연도 필터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구절 단위 인용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 (노트 단위)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서식 참고문헌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일부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인용 그래프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1F1F1F"/>
                          </a:solidFill>
                          <a:latin typeface="Pretendard"/>
                          <a:ea typeface="Pretendard"/>
                          <a:cs typeface="Pretendard"/>
                        </a:rPr>
                        <a:t>Zotero 불필요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✗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 spc="-13">
                          <a:solidFill>
                            <a:srgbClr val="6B6B6B"/>
                          </a:solidFill>
                          <a:latin typeface="Pretendard"/>
                          <a:ea typeface="Pretendard"/>
                          <a:cs typeface="Pretendard"/>
                        </a:rPr>
                        <a:t>—</a:t>
                      </a:r>
                    </a:p>
                  </a:txBody>
                  <a:tcPr marL="91440" marT="27432" marB="27432" anchor="ctr">
                    <a:solidFill>
                      <a:srgbClr val="EDEBE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 spc="-13">
                          <a:solidFill>
                            <a:srgbClr val="006241"/>
                          </a:solidFill>
                          <a:latin typeface="Pretendard"/>
                          <a:ea typeface="Pretendard"/>
                          <a:cs typeface="Pretendard"/>
                        </a:rPr>
                        <a:t>✓</a:t>
                      </a:r>
                    </a:p>
                  </a:txBody>
                  <a:tcPr marL="91440" marT="27432" marB="27432" anchor="ctr">
                    <a:solidFill>
                      <a:srgbClr val="D4E9E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40개 통합검증, 실제 API·데이터로 전부 통과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npm test · 통합 하니스 40 checks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3122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4562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4562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통합검증 통과 (실패 0)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32520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3960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3960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백엔드/서버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1918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93358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93358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놓친 논문 발굴 (실데이터)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71315" y="1656069"/>
            <a:ext cx="2568229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62755" y="1765797"/>
            <a:ext cx="2385349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 i="0" spc="-4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19p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62755" y="2497317"/>
            <a:ext cx="238534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실 PDF 추출 · 72K자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3122" y="2963661"/>
            <a:ext cx="1087642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단계별 검증 분포</a:t>
            </a:r>
          </a:p>
        </p:txBody>
      </p:sp>
      <p:pic>
        <p:nvPicPr>
          <p:cNvPr id="22" name="Picture 21" descr="valid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122" y="3274557"/>
            <a:ext cx="10876422" cy="2488673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live Crossref·PubMed·OpenAlex + Orama + pdfjs 실검증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Phase 0부터 5까지, 각 단계가 따로도 쓸모 있다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7403" y="6617421"/>
            <a:ext cx="548640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 i="0" spc="-8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v0.3.0 · github.com/grotyx/rag-obsidian</a:t>
            </a:r>
          </a:p>
        </p:txBody>
      </p:sp>
      <p:sp>
        <p:nvSpPr>
          <p:cNvPr id="9" name="Rectangle 8"/>
          <p:cNvSpPr/>
          <p:nvPr/>
        </p:nvSpPr>
        <p:spPr>
          <a:xfrm>
            <a:off x="937442" y="3622029"/>
            <a:ext cx="10327782" cy="22860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3685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48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76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서지관리
DOI→노트</a:t>
            </a:r>
          </a:p>
        </p:txBody>
      </p:sp>
      <p:sp>
        <p:nvSpPr>
          <p:cNvPr id="13" name="Oval 12"/>
          <p:cNvSpPr/>
          <p:nvPr/>
        </p:nvSpPr>
        <p:spPr>
          <a:xfrm>
            <a:off x="2902415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80039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34319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의미 검색
Orama</a:t>
            </a:r>
          </a:p>
        </p:txBody>
      </p:sp>
      <p:sp>
        <p:nvSpPr>
          <p:cNvPr id="16" name="Oval 15"/>
          <p:cNvSpPr/>
          <p:nvPr/>
        </p:nvSpPr>
        <p:spPr>
          <a:xfrm>
            <a:off x="496797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4559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9987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근거 채팅</a:t>
            </a:r>
          </a:p>
        </p:txBody>
      </p:sp>
      <p:sp>
        <p:nvSpPr>
          <p:cNvPr id="19" name="Oval 18"/>
          <p:cNvSpPr/>
          <p:nvPr/>
        </p:nvSpPr>
        <p:spPr>
          <a:xfrm>
            <a:off x="7033528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11152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5432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PDF
임포트</a:t>
            </a:r>
          </a:p>
        </p:txBody>
      </p:sp>
      <p:sp>
        <p:nvSpPr>
          <p:cNvPr id="22" name="Oval 21"/>
          <p:cNvSpPr/>
          <p:nvPr/>
        </p:nvSpPr>
        <p:spPr>
          <a:xfrm>
            <a:off x="9099084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76708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30988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인용
그래프</a:t>
            </a:r>
          </a:p>
        </p:txBody>
      </p:sp>
      <p:sp>
        <p:nvSpPr>
          <p:cNvPr id="25" name="Oval 24"/>
          <p:cNvSpPr/>
          <p:nvPr/>
        </p:nvSpPr>
        <p:spPr>
          <a:xfrm>
            <a:off x="11164641" y="3535161"/>
            <a:ext cx="201168" cy="201168"/>
          </a:xfrm>
          <a:prstGeom prst="ellipse">
            <a:avLst/>
          </a:prstGeom>
          <a:solidFill>
            <a:srgbClr val="00754A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42265" y="2799069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 spc="-1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P5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96545" y="3850629"/>
            <a:ext cx="17373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ts val="1500"/>
              </a:lnSpc>
            </a:pPr>
            <a:r>
              <a:rPr sz="1200" b="0" i="0" spc="-12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작성 지원
참고문헌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향후: 풀 CSL(citeproc) 스타일 · 온톨로지 검색확장 · 모바일 QA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GET STARTED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Obsidian만 있으면 오늘부터 시작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282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Obsidian 설치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02084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0996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8156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RAG Obsidian
플러그인 활성화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9959" y="2250429"/>
            <a:ext cx="420624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 spc="-24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18871" y="1838949"/>
            <a:ext cx="3320674" cy="1280160"/>
          </a:xfrm>
          <a:prstGeom prst="roundRect">
            <a:avLst>
              <a:gd name="adj" fmla="val 6000"/>
            </a:avLst>
          </a:prstGeom>
          <a:noFill/>
          <a:ln w="19050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031" y="1838949"/>
            <a:ext cx="3046354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ts val="2200"/>
              </a:lnSpc>
            </a:pPr>
            <a:r>
              <a:rPr sz="1700" b="1" i="0" spc="-17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임베딩·LLM 키 설정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394642" y="3777477"/>
            <a:ext cx="9413382" cy="960120"/>
          </a:xfrm>
          <a:prstGeom prst="roundRect">
            <a:avLst>
              <a:gd name="adj" fmla="val 10000"/>
            </a:avLst>
          </a:prstGeom>
          <a:noFill/>
          <a:ln w="22225">
            <a:solidFill>
              <a:srgbClr val="0075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642" y="3923781"/>
            <a:ext cx="9413382" cy="320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 i="0" spc="-12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코드 · 문서 · 이슈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94642" y="4234677"/>
            <a:ext cx="941338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700" b="1" i="0" spc="-27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122" y="4920477"/>
            <a:ext cx="10876422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 i="0" spc="-13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현재 v0.3.0 · 개발 빌드로 사용 중 · 공개 배포 예정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Obsidian만 있으면 오늘부터 — 내 서재가 답하기 시작한다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8257" y="123444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 spc="-11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1642" y="43626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ts val="3600"/>
              </a:lnSpc>
            </a:pPr>
            <a:r>
              <a:rPr sz="3000" b="1" i="0" spc="-30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Zotero 없이, 서버 없이, 늘 출처와 함께</a:t>
            </a:r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251642" y="1290309"/>
            <a:ext cx="11699382" cy="522735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8257" y="6620256"/>
            <a:ext cx="5486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 spc="-9">
                <a:solidFill>
                  <a:srgbClr val="8E8E93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312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3122" y="1747509"/>
            <a:ext cx="3491362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540123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540123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OWN YOUR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456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마크다운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= 내 DB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평문·git·로컬 우선
플러그인보다 오래 남음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55652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55652" y="1747509"/>
            <a:ext cx="3491362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232654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265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GROUNDED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7092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근거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구절 인용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출처 없는 답 없음
서식 참고문헌까지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8183" y="1747509"/>
            <a:ext cx="3491362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8183" y="1747509"/>
            <a:ext cx="3491362" cy="64008"/>
          </a:xfrm>
          <a:prstGeom prst="rect">
            <a:avLst/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925184" y="2003541"/>
            <a:ext cx="1737360" cy="310896"/>
          </a:xfrm>
          <a:prstGeom prst="roundRect">
            <a:avLst>
              <a:gd name="adj" fmla="val 50000"/>
            </a:avLst>
          </a:prstGeom>
          <a:solidFill>
            <a:srgbClr val="0075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25184" y="2003541"/>
            <a:ext cx="1737360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 spc="-1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GRAPH-LITE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9623" y="2616189"/>
            <a:ext cx="3308482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400" b="1" i="0" spc="-3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그래프</a:t>
            </a:r>
          </a:p>
          <a:p>
            <a:pPr algn="ctr">
              <a:spcBef>
                <a:spcPts val="200"/>
              </a:spcBef>
            </a:pPr>
            <a:r>
              <a:rPr sz="1600" b="1" i="0" spc="-16">
                <a:solidFill>
                  <a:srgbClr val="1F1F1F"/>
                </a:solidFill>
                <a:latin typeface="Pretendard"/>
                <a:ea typeface="Pretendard"/>
                <a:cs typeface="Pretendard"/>
              </a:rPr>
              <a:t>놓친 논문</a:t>
            </a:r>
          </a:p>
          <a:p>
            <a:pPr algn="ctr">
              <a:lnSpc>
                <a:spcPts val="1600"/>
              </a:lnSpc>
              <a:spcBef>
                <a:spcPts val="1000"/>
              </a:spcBef>
            </a:pPr>
            <a:r>
              <a:rPr sz="1200" b="0" i="0" spc="-12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OpenAlex 인용엣지
LLM 비용 0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1682" y="5859292"/>
            <a:ext cx="11059302" cy="457200"/>
          </a:xfrm>
          <a:prstGeom prst="roundRect">
            <a:avLst>
              <a:gd name="adj" fmla="val 18000"/>
            </a:avLst>
          </a:prstGeom>
          <a:solidFill>
            <a:srgbClr val="1E39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282" y="5859292"/>
            <a:ext cx="10602102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00" b="1" i="0" spc="-14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내 서재가 곧 검색엔진이고, 답은 늘 출처와 함께 — RAG Obsidian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rcRect l="3240" r="16360" t="21390" b="11330"/>
          <a:stretch>
            <a:fillRect/>
          </a:stretch>
        </p:blipFill>
        <p:spPr>
          <a:xfrm>
            <a:off x="10748314" y="11978"/>
            <a:ext cx="1443654" cy="79854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2377440"/>
            <a:ext cx="1106424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400" b="1" i="0" spc="-54">
                <a:solidFill>
                  <a:srgbClr val="006241"/>
                </a:solidFill>
                <a:latin typeface="Pretendard"/>
                <a:ea typeface="Pretendard"/>
                <a:cs typeface="Pretendard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49039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800" b="0" i="0" spc="-18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1064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 i="0" spc="-14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박상민  ·  분당서울대학교병원 정형외과</a:t>
            </a:r>
          </a:p>
          <a:p>
            <a:pPr algn="ctr">
              <a:spcBef>
                <a:spcPts val="500"/>
              </a:spcBef>
            </a:pPr>
            <a:r>
              <a:rPr sz="1300" b="1" i="0" spc="-13">
                <a:solidFill>
                  <a:srgbClr val="00754A"/>
                </a:solidFill>
                <a:latin typeface="Pretendard"/>
                <a:ea typeface="Pretendard"/>
                <a:cs typeface="Pretendard"/>
              </a:rPr>
              <a:t>github.com/grotyx/rag-obsidian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