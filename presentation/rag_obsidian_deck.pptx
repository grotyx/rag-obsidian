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014984"/>
            <a:ext cx="2697480" cy="44805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14984"/>
            <a:ext cx="269748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 spc="-14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OBSIDIAN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5617"/>
            <a:ext cx="1124282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i="0" spc="-4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Academic Paper Obsidian</a:t>
            </a:r>
          </a:p>
          <a:p>
            <a:pPr algn="l">
              <a:lnSpc>
                <a:spcPts val="4800"/>
              </a:lnSpc>
            </a:pPr>
            <a:r>
              <a:rPr sz="4000" b="1" i="0" spc="-4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Citation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37503"/>
            <a:ext cx="1645920" cy="4572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04874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 spc="-20">
                <a:solidFill>
                  <a:srgbClr val="2B5148"/>
                </a:solidFill>
                <a:latin typeface="Pretendard"/>
                <a:ea typeface="Pretendard"/>
                <a:cs typeface="Pretendard"/>
              </a:rPr>
              <a:t>내 논문 서재가 그대로 AI 검색엔진이 된다</a:t>
            </a:r>
          </a:p>
          <a:p>
            <a:pPr algn="l">
              <a:spcBef>
                <a:spcPts val="400"/>
              </a:spcBef>
            </a:pPr>
            <a:r>
              <a:rPr sz="1500" b="0" i="0" spc="-15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Obsidian 위에서 · 내 컴퓨터 안에서 · 답은 늘 출처와 함께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537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github.com/grotyx/rag-obsidian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6229" y="510235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0" i="0" spc="-16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분당서울대학교병원 정형외과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6229" y="54406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800" b="1" i="0" spc="-28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박상민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216" y="637812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 spc="-14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연구실 세미나  |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OPENING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6400"/>
              </a:lnSpc>
            </a:pPr>
            <a:r>
              <a:rPr sz="5600" b="1" i="0" spc="-56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답은 술술 나오는데</a:t>
            </a:r>
          </a:p>
          <a:p>
            <a:pPr algn="ctr">
              <a:lnSpc>
                <a:spcPts val="6400"/>
              </a:lnSpc>
            </a:pPr>
            <a:r>
              <a:rPr sz="5600" b="1" i="0" spc="-56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출처가 가짜다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200"/>
              </a:lnSpc>
            </a:pPr>
            <a:r>
              <a:rPr sz="1600" b="0" i="1" spc="-16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AI에 물으면 그럴듯한 답 — 인용은 지어낸 것. 정작 내 서재는 뜻으로 못 뒤진다.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AI는 출처를 지어내고, 내 노트는 뜻으로 못 찾는다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22" y="1701789"/>
            <a:ext cx="5209611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882" y="1994397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-32">
                <a:solidFill>
                  <a:srgbClr val="C82014"/>
                </a:solidFill>
                <a:latin typeface="Pretendard"/>
                <a:ea typeface="Pretendard"/>
                <a:cs typeface="Pretendard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882" y="2689341"/>
            <a:ext cx="44780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AI 챗봇에 물으면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882" y="3073389"/>
            <a:ext cx="447809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spc="-24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답은 그럴듯한데
인용이 가짜다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882" y="4188957"/>
            <a:ext cx="44780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 i="0" spc="-14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없는 DOI를 지어내고, 출처를 확인할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9934" y="1701789"/>
            <a:ext cx="5209611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5694" y="1994397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 spc="-32">
                <a:solidFill>
                  <a:srgbClr val="C82014"/>
                </a:solidFill>
                <a:latin typeface="Pretendard"/>
                <a:ea typeface="Pretendard"/>
                <a:cs typeface="Pretendard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5694" y="2689341"/>
            <a:ext cx="44780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내 노트·PDF를 뒤지면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5694" y="3073389"/>
            <a:ext cx="447809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spc="-24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단어가 같아야
겨우 찾힌다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5694" y="4188957"/>
            <a:ext cx="44780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 i="0" spc="-14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뜻이 같아도 표현이 다르면 놓친다 — 의미로 못 찾는다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필요한 건 — 내 서재 안에서, 뜻으로 찾아, 진짜 출처와 함께 답하는 도구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THE IDEA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10642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6400"/>
              </a:lnSpc>
            </a:pPr>
            <a:r>
              <a:rPr sz="5600" b="1" i="0" spc="-56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내 논문 서재가</a:t>
            </a:r>
          </a:p>
          <a:p>
            <a:pPr algn="ctr">
              <a:lnSpc>
                <a:spcPts val="6400"/>
              </a:lnSpc>
            </a:pPr>
            <a:r>
              <a:rPr sz="5600" b="1" i="0" spc="-56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곧 검색엔진이다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200"/>
              </a:lnSpc>
            </a:pPr>
            <a:r>
              <a:rPr sz="1600" b="0" i="1" spc="-16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논문 1편 = 노트 1개. 그 노트들이 그대로 AI가 답하는 근거가 된다 — Zotero도, 서버도 없이.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HOW ·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노트 한 개가 곧 데이터베이스의 한 줄이다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References/ 폴더의 마크다운 노트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22" y="1656069"/>
            <a:ext cx="6126480" cy="3931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442" y="1857237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 spc="-13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References / </a:t>
            </a:r>
            <a:r>
              <a:rPr sz="1300" b="1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lecun2015deep.md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442" y="2296149"/>
            <a:ext cx="5577840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162" y="2460741"/>
            <a:ext cx="5486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title:  </a:t>
            </a:r>
            <a:r>
              <a:rPr sz="1300" b="0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Deep learning</a:t>
            </a:r>
          </a:p>
          <a:p>
            <a:pPr algn="l">
              <a:lnSpc>
                <a:spcPts val="2000"/>
              </a:lnSpc>
              <a:spcBef>
                <a:spcPts val="2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author:  </a:t>
            </a:r>
            <a:r>
              <a:rPr sz="1300" b="0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LeCun Y · Bengio Y · Hinton G</a:t>
            </a:r>
          </a:p>
          <a:p>
            <a:pPr algn="l">
              <a:lnSpc>
                <a:spcPts val="2000"/>
              </a:lnSpc>
              <a:spcBef>
                <a:spcPts val="2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issued:  </a:t>
            </a:r>
            <a:r>
              <a:rPr sz="1300" b="0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2015</a:t>
            </a:r>
          </a:p>
          <a:p>
            <a:pPr algn="l">
              <a:lnSpc>
                <a:spcPts val="2000"/>
              </a:lnSpc>
              <a:spcBef>
                <a:spcPts val="2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container-title:  </a:t>
            </a:r>
            <a:r>
              <a:rPr sz="1300" b="0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Nature</a:t>
            </a:r>
          </a:p>
          <a:p>
            <a:pPr algn="l">
              <a:lnSpc>
                <a:spcPts val="2000"/>
              </a:lnSpc>
              <a:spcBef>
                <a:spcPts val="2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DOI:  </a:t>
            </a:r>
            <a:r>
              <a:rPr sz="1300" b="0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10.1038/nature14539</a:t>
            </a:r>
          </a:p>
          <a:p>
            <a:pPr algn="l">
              <a:lnSpc>
                <a:spcPts val="2000"/>
              </a:lnSpc>
              <a:spcBef>
                <a:spcPts val="2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type:  </a:t>
            </a:r>
            <a:r>
              <a:rPr sz="1300" b="0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article-journal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442" y="4563861"/>
            <a:ext cx="5577840" cy="12801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162" y="4691877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0"/>
              </a:lnSpc>
            </a:pPr>
            <a:r>
              <a:rPr sz="1200" b="1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## Abstract</a:t>
            </a:r>
          </a:p>
          <a:p>
            <a:pPr algn="l">
              <a:lnSpc>
                <a:spcPts val="1600"/>
              </a:lnSpc>
              <a:spcBef>
                <a:spcPts val="200"/>
              </a:spcBef>
            </a:pPr>
            <a:r>
              <a:rPr sz="1200" b="0" i="1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Deep learning lets computational models learn representations of data with multiple levels of abstraction…</a:t>
            </a:r>
          </a:p>
        </p:txBody>
      </p:sp>
      <p:sp>
        <p:nvSpPr>
          <p:cNvPr id="15" name="Oval 14"/>
          <p:cNvSpPr/>
          <p:nvPr/>
        </p:nvSpPr>
        <p:spPr>
          <a:xfrm>
            <a:off x="7164506" y="1729221"/>
            <a:ext cx="384048" cy="384048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4506" y="172922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2290" y="1674357"/>
            <a:ext cx="381725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 spc="-16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파일 이름 = 인용키</a:t>
            </a:r>
          </a:p>
          <a:p>
            <a:pPr algn="l">
              <a:lnSpc>
                <a:spcPts val="1800"/>
              </a:lnSpc>
              <a:spcBef>
                <a:spcPts val="400"/>
              </a:spcBef>
            </a:pPr>
            <a:r>
              <a:rPr sz="1300" b="0" i="0" spc="-13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노트 한 개 = 논문 한 편</a:t>
            </a:r>
          </a:p>
        </p:txBody>
      </p:sp>
      <p:sp>
        <p:nvSpPr>
          <p:cNvPr id="18" name="Oval 17"/>
          <p:cNvSpPr/>
          <p:nvPr/>
        </p:nvSpPr>
        <p:spPr>
          <a:xfrm>
            <a:off x="7164506" y="3055101"/>
            <a:ext cx="384048" cy="384048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64506" y="305510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2290" y="3000237"/>
            <a:ext cx="381725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 spc="-16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맨 위 = 메타데이터</a:t>
            </a:r>
          </a:p>
          <a:p>
            <a:pPr algn="l">
              <a:lnSpc>
                <a:spcPts val="1800"/>
              </a:lnSpc>
              <a:spcBef>
                <a:spcPts val="400"/>
              </a:spcBef>
            </a:pPr>
            <a:r>
              <a:rPr sz="1300" b="0" i="0" spc="-13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저자·연도·DOI를 표준 형식(CSL-JSON)으로. EndNote가 숨겨 두는 걸 사람이 읽는 평문으로.</a:t>
            </a:r>
          </a:p>
        </p:txBody>
      </p:sp>
      <p:sp>
        <p:nvSpPr>
          <p:cNvPr id="21" name="Oval 20"/>
          <p:cNvSpPr/>
          <p:nvPr/>
        </p:nvSpPr>
        <p:spPr>
          <a:xfrm>
            <a:off x="7164506" y="4380981"/>
            <a:ext cx="384048" cy="384048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64506" y="438098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 spc="-16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2290" y="4326117"/>
            <a:ext cx="381725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 spc="-16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본문 = 검색·채팅이 읽는 글</a:t>
            </a:r>
          </a:p>
          <a:p>
            <a:pPr algn="l">
              <a:lnSpc>
                <a:spcPts val="1800"/>
              </a:lnSpc>
              <a:spcBef>
                <a:spcPts val="400"/>
              </a:spcBef>
            </a:pPr>
            <a:r>
              <a:rPr sz="1300" b="0" i="0" spc="-13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초록·메모·메인 텍스트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이 평범한 .md 파일 하나 = 데이터베이스의 한 줄. 플러그인을 지워도 내 데이터는 남는다.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HOW ·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붙여넣기 한 번이면 출처 달린 답까지 간다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실제 사용 흐름 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22" y="1820661"/>
            <a:ext cx="2403637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63773" y="2058405"/>
            <a:ext cx="402336" cy="402336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3773" y="205840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 spc="-18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850" y="2643621"/>
            <a:ext cx="21841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DOI 붙여넣기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714" y="3301989"/>
            <a:ext cx="2074453" cy="1444751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154" y="3393429"/>
            <a:ext cx="1891573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00"/>
              </a:lnSpc>
            </a:pPr>
            <a:r>
              <a:rPr sz="12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10.1038/nature14539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5048" y="3100821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 spc="-24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7384" y="1820661"/>
            <a:ext cx="2403637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8035" y="2058405"/>
            <a:ext cx="402336" cy="402336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8035" y="205840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 spc="-18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7112" y="2643621"/>
            <a:ext cx="21841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노트 자동 생성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1976" y="3301989"/>
            <a:ext cx="2074453" cy="1444751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3416" y="3393429"/>
            <a:ext cx="1891573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00"/>
              </a:lnSpc>
            </a:pPr>
            <a:r>
              <a:rPr sz="1250" b="1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lecun2015deep.md</a:t>
            </a:r>
          </a:p>
          <a:p>
            <a:pPr algn="ctr">
              <a:lnSpc>
                <a:spcPts val="1600"/>
              </a:lnSpc>
              <a:spcBef>
                <a:spcPts val="4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제목·저자·초록 자동 채움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9309" y="3100821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 spc="-24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1646" y="1820661"/>
            <a:ext cx="2403637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2296" y="2058405"/>
            <a:ext cx="402336" cy="402336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2296" y="205840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 spc="-18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1374" y="2643621"/>
            <a:ext cx="21841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서재에 질문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6238" y="3301989"/>
            <a:ext cx="2074453" cy="1444751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7677" y="3393429"/>
            <a:ext cx="1891573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“표현 학습이</a:t>
            </a:r>
          </a:p>
          <a:p>
            <a:pPr algn="ctr">
              <a:lnSpc>
                <a:spcPts val="1600"/>
              </a:lnSpc>
              <a:spcBef>
                <a:spcPts val="400"/>
              </a:spcBef>
            </a:pPr>
            <a:r>
              <a:rPr sz="1300" b="1" i="0" spc="-13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뭐였지?”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3571" y="3100821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 spc="-24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35907" y="1820661"/>
            <a:ext cx="2403637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36558" y="2058405"/>
            <a:ext cx="402336" cy="402336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6558" y="205840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 spc="-18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5635" y="2643621"/>
            <a:ext cx="21841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9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출처 달린 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0499" y="3301989"/>
            <a:ext cx="2074453" cy="1444751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1939" y="3393429"/>
            <a:ext cx="1891573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1600"/>
              </a:lnSpc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“…계층적 표현을</a:t>
            </a:r>
          </a:p>
          <a:p>
            <a:pPr algn="ctr">
              <a:lnSpc>
                <a:spcPts val="1600"/>
              </a:lnSpc>
              <a:spcBef>
                <a:spcPts val="400"/>
              </a:spcBef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학습한다 [1]”</a:t>
            </a:r>
          </a:p>
          <a:p>
            <a:pPr algn="ctr">
              <a:lnSpc>
                <a:spcPts val="1600"/>
              </a:lnSpc>
              <a:spcBef>
                <a:spcPts val="400"/>
              </a:spcBef>
            </a:pPr>
            <a:r>
              <a:rPr sz="11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[1] LeCun 2015 → 노트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붙여넣기 → 노트 → 질문 → 출처 달린 답. 서버 없이, 내 컴퓨터 안에서 한 흐름으로.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한 플러그인 안에 네 가지: 서재·검색·채팅·그래프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22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557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557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562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서재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Zotero 대체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DOI/PMID/arXiv
→ 마크다운 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2520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7955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7955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3960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검색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단어+뜻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하이브리드
+ 메타데이터 필터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1918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17352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7352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3358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채팅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근거 기반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구절 인용 [n]
→ 서식 출처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1315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86750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750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2755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그래프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OpenAlex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관련 ·
놓친 논문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추가로: PDF 임포트 · @인용 자동완성 · 참고문헌 자동생성 · 온톨로지(분류체계) 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HOW ·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검색은 단어와 뜻을 함께 본다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하이브리드 검색 · 임베딩 provider 3종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22" y="1656069"/>
            <a:ext cx="10876422" cy="960120"/>
          </a:xfrm>
          <a:prstGeom prst="roundRect">
            <a:avLst>
              <a:gd name="adj" fmla="val 5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162" y="1656069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단어로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682" y="1656069"/>
            <a:ext cx="831610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정확한 용어 매칭 — 똑똑해진 Ctrl+F (BM25)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3122" y="2780781"/>
            <a:ext cx="10876422" cy="960120"/>
          </a:xfrm>
          <a:prstGeom prst="roundRect">
            <a:avLst>
              <a:gd name="adj" fmla="val 5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3162" y="2780781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뜻으로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682" y="2780781"/>
            <a:ext cx="831610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의미가 가까우면 매칭 — 'MI'로 검색해도 'myocardial infarction'을 찾음 (벡터 임베딩)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122" y="3905493"/>
            <a:ext cx="10876422" cy="960120"/>
          </a:xfrm>
          <a:prstGeom prst="roundRect">
            <a:avLst>
              <a:gd name="adj" fmla="val 5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162" y="3905493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+ 필터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682" y="3905493"/>
            <a:ext cx="831610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저자·연도·저널로 좁히기 (노트 맨 위 메타데이터)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682" y="5048493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282" y="5048493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단어 + 뜻 + 메타데이터를 한 번에 — Ollama면 전부 로컬·무료. 필요하면 인용 그래프로 확장.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HOW · 채팅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모든 답은 내 서재의 진짜 구절을 인용한다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근거 기반(RAG) 채팅 파이프라인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22" y="1656069"/>
            <a:ext cx="10876422" cy="960120"/>
          </a:xfrm>
          <a:prstGeom prst="roundRect">
            <a:avLst>
              <a:gd name="adj" fmla="val 5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162" y="1656069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①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682" y="1656069"/>
            <a:ext cx="831610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질문 → 내 서재에서 관련 구절만 회수 (서재 밖은 보지 않음)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3122" y="2780781"/>
            <a:ext cx="10876422" cy="960120"/>
          </a:xfrm>
          <a:prstGeom prst="roundRect">
            <a:avLst>
              <a:gd name="adj" fmla="val 5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3162" y="2780781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② 근거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7682" y="2780781"/>
            <a:ext cx="831610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LLM이 그 구절로만 답하고, 문장마다 [n] 표시 — 출처 없는 주장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122" y="3905493"/>
            <a:ext cx="10876422" cy="960120"/>
          </a:xfrm>
          <a:prstGeom prst="roundRect">
            <a:avLst>
              <a:gd name="adj" fmla="val 5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162" y="3905493"/>
            <a:ext cx="18288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③ 인용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682" y="3905493"/>
            <a:ext cx="831610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spc="-15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[n] → APA·Vancouver 서식으로, 클릭하면 원문 노트로 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682" y="5048493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282" y="5048493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슬라이드 2의 '가짜 인용' 문제 해결 — 모든 [n]은 내 서재의 진짜 구절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HOW · 그래프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인용 그래프가 '내가 놓친 논문'을 찾아준다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테스트 vault 4편 · OpenAlex (2.5억 편) 라이브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122" y="1656069"/>
            <a:ext cx="565573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000"/>
              </a:lnSpc>
            </a:pPr>
            <a:r>
              <a:rPr sz="2200" b="1" i="0" spc="-2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OpenAlex 인용 데이터로
서재의 '인용 지도'를 그린다</a:t>
            </a:r>
          </a:p>
          <a:p>
            <a:pPr>
              <a:lnSpc>
                <a:spcPts val="2600"/>
              </a:lnSpc>
              <a:spcBef>
                <a:spcPts val="14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0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내 논문들이 서로 인용하는 관계 = 지도의 선</a:t>
            </a:r>
          </a:p>
          <a:p>
            <a:pPr>
              <a:lnSpc>
                <a:spcPts val="2600"/>
              </a:lnSpc>
              <a:spcBef>
                <a:spcPts val="14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0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여러 번 인용되는데 내겐 없는 논문 = 놓친 논문</a:t>
            </a:r>
          </a:p>
          <a:p>
            <a:pPr>
              <a:lnSpc>
                <a:spcPts val="2600"/>
              </a:lnSpc>
              <a:spcBef>
                <a:spcPts val="14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● </a:t>
            </a:r>
            <a:r>
              <a:rPr sz="1600" b="0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다음에 뭘 읽을지 — LLM 비용 0으로</a:t>
            </a:r>
          </a:p>
        </p:txBody>
      </p:sp>
      <p:pic>
        <p:nvPicPr>
          <p:cNvPr id="10" name="Picture 9" descr="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82" y="1564629"/>
            <a:ext cx="3984752" cy="3383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실데이터: 4편만 넣어도 핵심 누락 논문 9편 자동 발굴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WHY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서지 도구도 AI 도구도 못 하던 일을 한 번에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Smart Connections 5.1k★ · Copilot 7.1k★ · Citation 1.3k★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3122" y="1656069"/>
          <a:ext cx="10876422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528194"/>
                <a:gridCol w="2528194"/>
                <a:gridCol w="2528194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spc="-12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</a:t>
                      </a:r>
                    </a:p>
                  </a:txBody>
                  <a:tcPr marL="91440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spc="-12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서지 플러그인</a:t>
                      </a:r>
                    </a:p>
                  </a:txBody>
                  <a:tcPr marL="91440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spc="-12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AI/RAG 플러그인</a:t>
                      </a:r>
                    </a:p>
                  </a:txBody>
                  <a:tcPr marL="91440" marT="27432" marB="27432" anchor="ctr">
                    <a:solidFill>
                      <a:srgbClr val="F9F9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 spc="-12">
                          <a:solidFill>
                            <a:srgbClr val="0062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RAG Obsidian</a:t>
                      </a:r>
                    </a:p>
                  </a:txBody>
                  <a:tcPr marL="91440" marT="27432" marB="27432" anchor="ctr">
                    <a:solidFill>
                      <a:srgbClr val="F9F9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의미(뜻) 검색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spc="-13">
                          <a:solidFill>
                            <a:srgbClr val="0062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저자·연도 필터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spc="-13">
                          <a:solidFill>
                            <a:srgbClr val="0062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구절 단위 인용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 (노트 단위)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spc="-13">
                          <a:solidFill>
                            <a:srgbClr val="0062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서식 참고문헌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일부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spc="-13">
                          <a:solidFill>
                            <a:srgbClr val="0062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인용 그래프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spc="-13">
                          <a:solidFill>
                            <a:srgbClr val="0062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1F1F1F"/>
                          </a:solidFill>
                          <a:latin typeface="Pretendard"/>
                          <a:ea typeface="Pretendard"/>
                          <a:cs typeface="Pretendard"/>
                        </a:rPr>
                        <a:t>Zotero 불필요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✗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spc="-13">
                          <a:solidFill>
                            <a:srgbClr val="6B6B6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spc="-13">
                          <a:solidFill>
                            <a:srgbClr val="0062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T="27432" marB="27432" anchor="ctr">
                    <a:solidFill>
                      <a:srgbClr val="EDEB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Phase 0부터 5까지, 각 단계가 따로도 쓸모 있다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v0.4.2 · github.com/grotyx/rag-obsidian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442" y="3622029"/>
            <a:ext cx="10327782" cy="2286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6858" y="3535161"/>
            <a:ext cx="201168" cy="201168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482" y="279906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 spc="-17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" y="385062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서지관리
DOI→노트</a:t>
            </a:r>
          </a:p>
        </p:txBody>
      </p:sp>
      <p:sp>
        <p:nvSpPr>
          <p:cNvPr id="13" name="Oval 12"/>
          <p:cNvSpPr/>
          <p:nvPr/>
        </p:nvSpPr>
        <p:spPr>
          <a:xfrm>
            <a:off x="2902415" y="3535161"/>
            <a:ext cx="201168" cy="201168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0039" y="279906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 spc="-17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4319" y="385062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의미 검색
Orama</a:t>
            </a:r>
          </a:p>
        </p:txBody>
      </p:sp>
      <p:sp>
        <p:nvSpPr>
          <p:cNvPr id="16" name="Oval 15"/>
          <p:cNvSpPr/>
          <p:nvPr/>
        </p:nvSpPr>
        <p:spPr>
          <a:xfrm>
            <a:off x="4967971" y="3535161"/>
            <a:ext cx="201168" cy="201168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5595" y="279906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 spc="-17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9875" y="385062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근거 채팅</a:t>
            </a:r>
          </a:p>
        </p:txBody>
      </p:sp>
      <p:sp>
        <p:nvSpPr>
          <p:cNvPr id="19" name="Oval 18"/>
          <p:cNvSpPr/>
          <p:nvPr/>
        </p:nvSpPr>
        <p:spPr>
          <a:xfrm>
            <a:off x="7033528" y="3535161"/>
            <a:ext cx="201168" cy="201168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1152" y="279906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 spc="-17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432" y="385062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PDF
임포트</a:t>
            </a:r>
          </a:p>
        </p:txBody>
      </p:sp>
      <p:sp>
        <p:nvSpPr>
          <p:cNvPr id="22" name="Oval 21"/>
          <p:cNvSpPr/>
          <p:nvPr/>
        </p:nvSpPr>
        <p:spPr>
          <a:xfrm>
            <a:off x="9099084" y="3535161"/>
            <a:ext cx="201168" cy="201168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6708" y="279906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 spc="-17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988" y="385062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인용
그래프</a:t>
            </a:r>
          </a:p>
        </p:txBody>
      </p:sp>
      <p:sp>
        <p:nvSpPr>
          <p:cNvPr id="25" name="Oval 24"/>
          <p:cNvSpPr/>
          <p:nvPr/>
        </p:nvSpPr>
        <p:spPr>
          <a:xfrm>
            <a:off x="11164641" y="3535161"/>
            <a:ext cx="201168" cy="201168"/>
          </a:xfrm>
          <a:prstGeom prst="ellipse">
            <a:avLst/>
          </a:prstGeom>
          <a:solidFill>
            <a:srgbClr val="0075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2265" y="279906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 spc="-17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96545" y="3850629"/>
            <a:ext cx="1737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작성 지원
참고문헌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향후: 온톨로지 검색확장 · 모바일 QA · 대용량 색인 엔진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Obsidian만 있으면 오늘부터 시작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22" y="1838949"/>
            <a:ext cx="3320674" cy="12801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282" y="1838949"/>
            <a:ext cx="304635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1" i="0" spc="-17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Obsidian 설치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2084" y="2250429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 spc="-24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0996" y="1838949"/>
            <a:ext cx="3320674" cy="12801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8156" y="1838949"/>
            <a:ext cx="304635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1" i="0" spc="-17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RAG Obsidian
플러그인 활성화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9959" y="2250429"/>
            <a:ext cx="4206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 spc="-24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8871" y="1838949"/>
            <a:ext cx="3320674" cy="128016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031" y="1838949"/>
            <a:ext cx="304635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ts val="2200"/>
              </a:lnSpc>
            </a:pPr>
            <a:r>
              <a:rPr sz="1700" b="1" i="0" spc="-17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임베딩·LLM 키 설정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4642" y="3777477"/>
            <a:ext cx="9413382" cy="960120"/>
          </a:xfrm>
          <a:prstGeom prst="roundRect">
            <a:avLst>
              <a:gd name="adj" fmla="val 10000"/>
            </a:avLst>
          </a:prstGeom>
          <a:noFill/>
          <a:ln w="2222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4642" y="3923781"/>
            <a:ext cx="941338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코드 · 문서 · 이슈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4642" y="4234677"/>
            <a:ext cx="941338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700" b="1" i="0" spc="-27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github.com/grotyx/rag-obsidian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122" y="4920477"/>
            <a:ext cx="1087642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 spc="-13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현재 v0.4.2 · 개발 빌드로 사용 중 · 공개 배포 예정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Obsidian만 있으면 오늘부터 — 내 서재가 답하기 시작한다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HOW TO USE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서재 채우는 법 — 네 가지 입구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명령 팔레트 = Cmd/Ctrl+P · 'RAG'만 쳐도 전부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22" y="1637781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290" y="1889241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290" y="188924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922" y="1637781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DOI·PMID 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9162" y="1820661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6322" y="1820661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“Add reference by DOI / PMID / arXiv”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4002" y="1637781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식별자 붙여넣기 → References/에 노트 자동 생성.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제목·저자·연도·초록까지 자동으로 채워진다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122" y="2625333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290" y="2876793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290" y="287679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8922" y="2625333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PubMed 검색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9162" y="2808213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6322" y="2808213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“Search PubMed and add references”  (리본: 돋보기)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4002" y="2625333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키워드 검색 → 체크해서 한 번에 추가.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MeSH 태그 자동 · 옵션: LLM 요약(PMC 전문 기반)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122" y="3612885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4290" y="3864345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290" y="386434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922" y="3612885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PDF 던져넣기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69162" y="3795765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6322" y="3795765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“Import PDF into library”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4002" y="3612885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PDF에서 텍스트·DOI를 찾아 메타데이터 자동 인식.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식별자 없으면 LLM이 제목·저자를 추출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122" y="4600437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4290" y="4851897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290" y="485189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8922" y="4600437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Zotero·EndNote 이관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69162" y="4783317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6322" y="4783317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“Import references (BibTeX / RIS / CSL-JSON)”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4002" y="4600437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기존 서재를 내보내기 파일로 한 번에 가져온다.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중복은 자동으로 건너뜀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넣는 방법이 무엇이든 결과는 같다 — 노트 하나. 처음 한 번만 “Rebuild search index”.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HOW TO USE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찾고, 묻고, 쓰는 법 — 매일 쓰는 네 가지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명령 팔레트 = Cmd/Ctrl+P · 'RAG'만 쳐도 전부 검색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22" y="1637781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290" y="1889241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290" y="188924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922" y="1637781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뜻으로 검색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9162" y="1820661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6322" y="1820661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“Search library (semantic)”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4002" y="1637781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단어+뜻 하이브리드 — 'MI'로 'myocardial infarction'도 잡힌다.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저자·연도·저널 필터 병행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122" y="2625333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290" y="2876793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290" y="287679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8922" y="2625333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서재에 질문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9162" y="2808213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6322" y="2808213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“Chat with library”  (리본: 말풍선)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4002" y="2625333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내 서재 구절만 근거로 답하고 문장마다 [n].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[n] 클릭 → 원문 노트로 이동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122" y="3612885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4290" y="3864345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290" y="3864345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8922" y="3612885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글 쓰며 인용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69162" y="3795765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6322" y="3795765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본문에서  @  입력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4002" y="3612885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제목·저자로 검색해 [@citekey] 삽입.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읽기 화면에선 (Park, 2022)·[1] 같은 서식 인용으로 렌더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122" y="4600437"/>
            <a:ext cx="1087642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4290" y="4851897"/>
            <a:ext cx="365760" cy="36576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290" y="485189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 spc="-15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8922" y="4600437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참고문헌 생성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69162" y="4783317"/>
            <a:ext cx="4206240" cy="502920"/>
          </a:xfrm>
          <a:prstGeom prst="roundRect">
            <a:avLst>
              <a:gd name="adj" fmla="val 12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6322" y="4783317"/>
            <a:ext cx="3931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“Update bibliography in current note”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4002" y="4600437"/>
            <a:ext cx="365266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## References를 저널 스타일로 자동 생성.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sz="115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노트에 csl: 한 줄로 저널 교체 — 1만+ 스타일 자동 다운로드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추가 → 검색 → 질문 → 인용 → 참고문헌, 전부 Cmd+P 안에서.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MORE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추가부터 투고까지, 연구 워크플로 전체를 덮는다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03" y="6617421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-8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명령 33개 · 전부 Cmd+P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22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557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557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562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내보내기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lock-in 0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BibTeX/RIS/CSL-JSON로
언제든 통째로 도로
가져갈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2520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7955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7955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SUMMARIZE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960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요약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LLM + MeSH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추가 시 자동 요약·MeSH
(PMC 전문 기반)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1918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17352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7352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3358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투고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원고 컴파일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[@키] 전부 풀어
인용+참고문헌 완성본
(Pandoc-ready)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1315" y="1747509"/>
            <a:ext cx="2568229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86750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6750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CURATE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2755" y="2616189"/>
            <a:ext cx="238534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관리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서재 위생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철회 확인 · 중복 정리
읽기 큐 · OA PDF 다운로드
PDF 하이라이트 추출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lock-in 0 (언제든 내보내기) — 들어온 뒤엔 읽기·쓰기·투고까지 한 앱에서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Zotero 없이, 서버 없이, 늘 출처와 함께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22" y="1747509"/>
            <a:ext cx="349136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40123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40123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OWN YOUR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562" y="2616189"/>
            <a:ext cx="330848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마크다운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= 내 DB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평문·git·로컬 우선
플러그인보다 오래 남음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652" y="1747509"/>
            <a:ext cx="349136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32654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654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GROUNDED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7092" y="2616189"/>
            <a:ext cx="330848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구절 인용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출처 없는 답 없음
서식 참고문헌까지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8183" y="1747509"/>
            <a:ext cx="349136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25184" y="2003541"/>
            <a:ext cx="1737360" cy="31089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5184" y="2003541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 spc="-11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GRAPH-LITE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9623" y="2616189"/>
            <a:ext cx="330848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 spc="-3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그래프</a:t>
            </a:r>
          </a:p>
          <a:p>
            <a:pPr algn="ctr">
              <a:spcBef>
                <a:spcPts val="200"/>
              </a:spcBef>
            </a:pPr>
            <a:r>
              <a:rPr sz="1600" b="1" i="0" spc="-16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놓친 논문</a:t>
            </a:r>
          </a:p>
          <a:p>
            <a:pPr algn="ctr">
              <a:lnSpc>
                <a:spcPts val="1600"/>
              </a:lnSpc>
              <a:spcBef>
                <a:spcPts val="1000"/>
              </a:spcBef>
            </a:pPr>
            <a:r>
              <a:rPr sz="1200" b="0" i="0" spc="-12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OpenAlex 인용엣지
LLM 비용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682" y="5859292"/>
            <a:ext cx="11059302" cy="457200"/>
          </a:xfrm>
          <a:prstGeom prst="roundRect">
            <a:avLst>
              <a:gd name="adj" fmla="val 18000"/>
            </a:avLst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282" y="5859292"/>
            <a:ext cx="106021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 spc="-1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내 서재가 곧 검색엔진이고, 답은 늘 출처와 함께 — RAG Obsidian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자주 나올 질문 ①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22" y="1656069"/>
            <a:ext cx="10876422" cy="1364498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882" y="1656069"/>
            <a:ext cx="10144902" cy="1364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Q.  </a:t>
            </a: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Zotero랑 뭐가 다른가요?</a:t>
            </a:r>
          </a:p>
          <a:p>
            <a:pPr algn="l">
              <a:lnSpc>
                <a:spcPts val="1700"/>
              </a:lnSpc>
              <a:spcBef>
                <a:spcPts val="600"/>
              </a:spcBef>
            </a:pPr>
            <a:r>
              <a:rPr sz="12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A.  </a:t>
            </a:r>
            <a:r>
              <a:rPr sz="125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Zotero는 별도 앱+별도 DB. 여기선 글 쓰는 Obsidian 노트 자체가 서지 DB라 한 곳에서 끝나고, AI 근거 검색이 기본 내장.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22" y="3221736"/>
            <a:ext cx="10876422" cy="1364498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882" y="3221736"/>
            <a:ext cx="10144902" cy="1364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Q.  </a:t>
            </a: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오프라인에서도 되나요?</a:t>
            </a:r>
          </a:p>
          <a:p>
            <a:pPr algn="l">
              <a:lnSpc>
                <a:spcPts val="1700"/>
              </a:lnSpc>
              <a:spcBef>
                <a:spcPts val="600"/>
              </a:spcBef>
            </a:pPr>
            <a:r>
              <a:rPr sz="12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A.  </a:t>
            </a:r>
            <a:r>
              <a:rPr sz="125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검색·색인은 전부 로컬. 임베딩도 로컬(Ollama) 가능. 네트워크는 외부 조회(메타데이터·PubMed·OpenAlex·CSL 스타일)와 클라우드 LLM·임베딩 호출뿐.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3122" y="4787402"/>
            <a:ext cx="10876422" cy="1364498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882" y="4787402"/>
            <a:ext cx="10144902" cy="1364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Q.  </a:t>
            </a: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내 데이터는 어디에 저장되나요?</a:t>
            </a:r>
          </a:p>
          <a:p>
            <a:pPr algn="l">
              <a:lnSpc>
                <a:spcPts val="1700"/>
              </a:lnSpc>
              <a:spcBef>
                <a:spcPts val="600"/>
              </a:spcBef>
            </a:pPr>
            <a:r>
              <a:rPr sz="12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A.  </a:t>
            </a:r>
            <a:r>
              <a:rPr sz="125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전부 내 vault 안 평문 마크다운. 외부 서버 없음 — 내가 키를 넣은 LLM 호출만 예외.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8257" y="12344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-11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642" y="4362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spc="-30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자주 나올 질문 ②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51642" y="1290309"/>
            <a:ext cx="11699382" cy="52273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257" y="662025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-9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22" y="1656069"/>
            <a:ext cx="10876422" cy="1364498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882" y="1656069"/>
            <a:ext cx="10144902" cy="1364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Q.  </a:t>
            </a: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SNOMED·MeSH 같은 의학 용어체계도 되나요?</a:t>
            </a:r>
          </a:p>
          <a:p>
            <a:pPr algn="l">
              <a:lnSpc>
                <a:spcPts val="1700"/>
              </a:lnSpc>
              <a:spcBef>
                <a:spcPts val="600"/>
              </a:spcBef>
            </a:pPr>
            <a:r>
              <a:rPr sz="12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A.  </a:t>
            </a:r>
            <a:r>
              <a:rPr sz="125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MeSH 태그는 PubMed 추가 시 자동. SNOMED 등은 라이선스상 직접 JSON 팩으로 변환해 장착(노트 태깅·IS_A·동의어). 검색 확장 연동은 로드맵.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22" y="3221736"/>
            <a:ext cx="10876422" cy="1364498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882" y="3221736"/>
            <a:ext cx="10144902" cy="1364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Q.  </a:t>
            </a: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수천 편짜리 큰 서재도 버티나요?</a:t>
            </a:r>
          </a:p>
          <a:p>
            <a:pPr algn="l">
              <a:lnSpc>
                <a:spcPts val="1700"/>
              </a:lnSpc>
              <a:spcBef>
                <a:spcPts val="600"/>
              </a:spcBef>
            </a:pPr>
            <a:r>
              <a:rPr sz="12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A.  </a:t>
            </a:r>
            <a:r>
              <a:rPr sz="125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수백~수천 편 타깃. 색인이 인메모리라 아주 큰 vault는 추후 sqlite-vec 교체 예정.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3122" y="4787402"/>
            <a:ext cx="10876422" cy="1364498"/>
          </a:xfrm>
          <a:prstGeom prst="roundRect">
            <a:avLst>
              <a:gd name="adj" fmla="val 6000"/>
            </a:avLst>
          </a:prstGeom>
          <a:noFill/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882" y="4787402"/>
            <a:ext cx="10144902" cy="1364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Q.  </a:t>
            </a:r>
            <a:r>
              <a:rPr sz="1500" b="1" i="0" spc="-15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가짜 인용(환각)은 정말 없나요?</a:t>
            </a:r>
          </a:p>
          <a:p>
            <a:pPr algn="l">
              <a:lnSpc>
                <a:spcPts val="1700"/>
              </a:lnSpc>
              <a:spcBef>
                <a:spcPts val="600"/>
              </a:spcBef>
            </a:pPr>
            <a:r>
              <a:rPr sz="1250" b="1" i="0" spc="-12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A.  </a:t>
            </a:r>
            <a:r>
              <a:rPr sz="1250" b="0" i="0" spc="-12">
                <a:solidFill>
                  <a:srgbClr val="1F1F1F"/>
                </a:solidFill>
                <a:latin typeface="Pretendard"/>
                <a:ea typeface="Pretendard"/>
                <a:cs typeface="Pretendard"/>
              </a:rPr>
              <a:t>답을 서재 구절에만 근거하게 강제하고 [n]은 실제 노트에 연결. 근거 없으면 "근거 없음"이라 답하게 설계.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rcRect l="3240" r="16360" t="21390" b="11330"/>
          <a:stretch>
            <a:fillRect/>
          </a:stretch>
        </p:blipFill>
        <p:spPr>
          <a:xfrm>
            <a:off x="10748314" y="11978"/>
            <a:ext cx="1443654" cy="79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77440"/>
            <a:ext cx="110642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 i="0" spc="-54">
                <a:solidFill>
                  <a:srgbClr val="006241"/>
                </a:solidFill>
                <a:latin typeface="Pretendard"/>
                <a:ea typeface="Pretendard"/>
                <a:cs typeface="Pretendar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 spc="-18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 spc="-14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박상민  ·  분당서울대학교병원 정형외과</a:t>
            </a:r>
          </a:p>
          <a:p>
            <a:pPr algn="ctr">
              <a:spcBef>
                <a:spcPts val="500"/>
              </a:spcBef>
            </a:pPr>
            <a:r>
              <a:rPr sz="1300" b="1" i="0" spc="-13">
                <a:solidFill>
                  <a:srgbClr val="00754A"/>
                </a:solidFill>
                <a:latin typeface="Pretendard"/>
                <a:ea typeface="Pretendard"/>
                <a:cs typeface="Pretendard"/>
              </a:rPr>
              <a:t>github.com/grotyx/rag-obsidian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