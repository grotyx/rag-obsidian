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9"/>
    <p:sldId id="269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58" y="62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microsoft.com/office/2016/11/relationships/changesInfo" Target="changesInfos/changesInfo1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gmin Park" userId="4d1078831f804aa8" providerId="LiveId" clId="{FD74ABD8-2DB4-4925-8651-47553808EDF3}"/>
    <pc:docChg chg="modSld">
      <pc:chgData name="Sangmin Park" userId="4d1078831f804aa8" providerId="LiveId" clId="{FD74ABD8-2DB4-4925-8651-47553808EDF3}" dt="2026-06-06T15:28:18.166" v="0" actId="14861"/>
      <pc:docMkLst>
        <pc:docMk/>
      </pc:docMkLst>
      <pc:sldChg chg="modSp mod">
        <pc:chgData name="Sangmin Park" userId="4d1078831f804aa8" providerId="LiveId" clId="{FD74ABD8-2DB4-4925-8651-47553808EDF3}" dt="2026-06-06T15:28:18.166" v="0" actId="14861"/>
        <pc:sldMkLst>
          <pc:docMk/>
          <pc:sldMk cId="0" sldId="259"/>
        </pc:sldMkLst>
        <pc:spChg chg="mod">
          <ac:chgData name="Sangmin Park" userId="4d1078831f804aa8" providerId="LiveId" clId="{FD74ABD8-2DB4-4925-8651-47553808EDF3}" dt="2026-06-06T15:28:18.166" v="0" actId="14861"/>
          <ac:spMkLst>
            <pc:docMk/>
            <pc:sldMk cId="0" sldId="259"/>
            <ac:spMk id="13" creationId="{00000000-0000-0000-0000-000000000000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323990" y="0"/>
            <a:ext cx="5837529" cy="6858000"/>
          </a:xfrm>
          <a:prstGeom prst="rect">
            <a:avLst/>
          </a:prstGeom>
          <a:solidFill>
            <a:srgbClr val="F2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rcRect l="3240" t="21391" r="16358" b="11330"/>
          <a:stretch>
            <a:fillRect/>
          </a:stretch>
        </p:blipFill>
        <p:spPr>
          <a:xfrm>
            <a:off x="10748356" y="11978"/>
            <a:ext cx="1443644" cy="79857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014984"/>
            <a:ext cx="3200400" cy="448056"/>
          </a:xfrm>
          <a:prstGeom prst="roundRect">
            <a:avLst>
              <a:gd name="adj" fmla="val 50000"/>
            </a:avLst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131295"/>
            <a:ext cx="3200400" cy="215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spc="-14">
                <a:solidFill>
                  <a:srgbClr val="FFFFFF"/>
                </a:solidFill>
                <a:latin typeface="Pretendard"/>
              </a:rPr>
              <a:t>SNUBH  SPINE SURGERY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5617"/>
            <a:ext cx="11242822" cy="1363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 spc="-40">
                <a:solidFill>
                  <a:srgbClr val="006241"/>
                </a:solidFill>
                <a:latin typeface="Pretendard"/>
              </a:rPr>
              <a:t>Clinical Outcome
Analysis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6247" y="3704874"/>
            <a:ext cx="8229600" cy="2769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spc="-18">
                <a:solidFill>
                  <a:srgbClr val="6B6B6B"/>
                </a:solidFill>
                <a:latin typeface="Pretendard"/>
              </a:rPr>
              <a:t>Study descriptor  |  Design / cohort tag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437503"/>
            <a:ext cx="1645920" cy="36576"/>
          </a:xfrm>
          <a:prstGeom prst="rect">
            <a:avLst/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66229" y="5102352"/>
            <a:ext cx="5029200" cy="2769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800" b="0" i="0" spc="-18">
                <a:solidFill>
                  <a:srgbClr val="6B6B6B"/>
                </a:solidFill>
                <a:latin typeface="Pretendard"/>
              </a:rPr>
              <a:t>Seoul National Univ. Bundang Hospital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66229" y="5477256"/>
            <a:ext cx="5029200" cy="430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800" b="1" i="0" spc="-28">
                <a:solidFill>
                  <a:srgbClr val="006241"/>
                </a:solidFill>
                <a:latin typeface="Pretendard"/>
              </a:rPr>
              <a:t>Sang-Min Park, MD, PhD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216" y="6378122"/>
            <a:ext cx="7315200" cy="215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spc="-14">
                <a:solidFill>
                  <a:srgbClr val="6B6B6B"/>
                </a:solidFill>
                <a:latin typeface="Pretendard"/>
              </a:rPr>
              <a:t>Conference name   |   YYYY.MM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688836" y="0"/>
            <a:ext cx="5472684" cy="6858000"/>
          </a:xfrm>
          <a:prstGeom prst="rect">
            <a:avLst/>
          </a:prstGeom>
          <a:solidFill>
            <a:srgbClr val="F2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rcRect l="3240" t="21391" r="16358" b="11330"/>
          <a:stretch>
            <a:fillRect/>
          </a:stretch>
        </p:blipFill>
        <p:spPr>
          <a:xfrm>
            <a:off x="10748356" y="11978"/>
            <a:ext cx="1443644" cy="7985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21040" y="4206240"/>
            <a:ext cx="347472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0" b="1" i="0" spc="-200">
                <a:solidFill>
                  <a:srgbClr val="E8E5DF"/>
                </a:solidFill>
                <a:latin typeface="Pretendard"/>
              </a:rP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58898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19090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spc="-12">
                <a:solidFill>
                  <a:srgbClr val="FFFFFF"/>
                </a:solidFill>
                <a:latin typeface="Pretendard"/>
              </a:rPr>
              <a:t>SECTION 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97480"/>
            <a:ext cx="80467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 spc="-36">
                <a:solidFill>
                  <a:srgbClr val="006241"/>
                </a:solidFill>
                <a:latin typeface="Pretendard"/>
              </a:rPr>
              <a:t>Section title goes 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8046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spc="-14">
                <a:solidFill>
                  <a:srgbClr val="6B6B6B"/>
                </a:solidFill>
                <a:latin typeface="Pretendard"/>
              </a:rPr>
              <a:t>Section subtitle — short descriptive sentence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36161"/>
            <a:ext cx="1371600" cy="36576"/>
          </a:xfrm>
          <a:prstGeom prst="rect">
            <a:avLst/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8257" y="12344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-11">
                <a:solidFill>
                  <a:srgbClr val="8E8E93"/>
                </a:solidFill>
                <a:latin typeface="Pretendard"/>
              </a:rPr>
              <a:t>PATTERN A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rcRect l="3240" t="21391" r="16358" b="11330"/>
          <a:stretch>
            <a:fillRect/>
          </a:stretch>
        </p:blipFill>
        <p:spPr>
          <a:xfrm>
            <a:off x="10748356" y="11978"/>
            <a:ext cx="1443644" cy="7985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1460" y="4362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 spc="-30">
                <a:solidFill>
                  <a:srgbClr val="006241"/>
                </a:solidFill>
                <a:latin typeface="Pretendard"/>
              </a:rPr>
              <a:t>Single Chart — Full Width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642" y="1290309"/>
            <a:ext cx="11699382" cy="5227350"/>
          </a:xfrm>
          <a:prstGeom prst="roundRect">
            <a:avLst>
              <a:gd name="adj" fmla="val 209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10652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-14">
                <a:solidFill>
                  <a:srgbClr val="161616"/>
                </a:solidFill>
                <a:latin typeface="Pretendard"/>
              </a:rPr>
              <a:t>Outcome comparison across four metrics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10652760" cy="402336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5893308"/>
            <a:ext cx="10652760" cy="9144"/>
          </a:xfrm>
          <a:prstGeom prst="rect">
            <a:avLst/>
          </a:prstGeom>
          <a:solidFill>
            <a:srgbClr val="ED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19" y="5779008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 spc="-12">
                <a:solidFill>
                  <a:srgbClr val="7A7A7A"/>
                </a:solidFill>
                <a:latin typeface="Pretendard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887468"/>
            <a:ext cx="10652760" cy="9144"/>
          </a:xfrm>
          <a:prstGeom prst="rect">
            <a:avLst/>
          </a:prstGeom>
          <a:solidFill>
            <a:srgbClr val="ED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19" y="4773168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 spc="-12">
                <a:solidFill>
                  <a:srgbClr val="7A7A7A"/>
                </a:solidFill>
                <a:latin typeface="Pretendard"/>
              </a:rPr>
              <a:t>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881628"/>
            <a:ext cx="10652760" cy="9144"/>
          </a:xfrm>
          <a:prstGeom prst="rect">
            <a:avLst/>
          </a:prstGeom>
          <a:solidFill>
            <a:srgbClr val="ED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19" y="3767328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 spc="-12">
                <a:solidFill>
                  <a:srgbClr val="7A7A7A"/>
                </a:solidFill>
                <a:latin typeface="Pretendard"/>
              </a:rPr>
              <a:t>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875788"/>
            <a:ext cx="10652760" cy="9144"/>
          </a:xfrm>
          <a:prstGeom prst="rect">
            <a:avLst/>
          </a:prstGeom>
          <a:solidFill>
            <a:srgbClr val="ED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4319" y="2761488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 spc="-12">
                <a:solidFill>
                  <a:srgbClr val="7A7A7A"/>
                </a:solidFill>
                <a:latin typeface="Pretendard"/>
              </a:rPr>
              <a:t>75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1869948"/>
            <a:ext cx="10652760" cy="91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4319" y="1755648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 spc="-12">
                <a:solidFill>
                  <a:srgbClr val="7A7A7A"/>
                </a:solidFill>
                <a:latin typeface="Pretendard"/>
              </a:rPr>
              <a:t>100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77213" y="3282696"/>
            <a:ext cx="585901" cy="2615184"/>
          </a:xfrm>
          <a:prstGeom prst="rect">
            <a:avLst/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154554" y="3685031"/>
            <a:ext cx="585901" cy="2212848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77314" y="5989320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 spc="-13">
                <a:solidFill>
                  <a:srgbClr val="7A7A7A"/>
                </a:solidFill>
                <a:latin typeface="Pretendard"/>
              </a:rPr>
              <a:t>Metric 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40403" y="2759659"/>
            <a:ext cx="585901" cy="3138220"/>
          </a:xfrm>
          <a:prstGeom prst="rect">
            <a:avLst/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817745" y="3403396"/>
            <a:ext cx="585901" cy="2494483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040505" y="5989320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 spc="-13">
                <a:solidFill>
                  <a:srgbClr val="7A7A7A"/>
                </a:solidFill>
                <a:latin typeface="Pretendard"/>
              </a:rPr>
              <a:t>Metric 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03593" y="4208068"/>
            <a:ext cx="585901" cy="1689811"/>
          </a:xfrm>
          <a:prstGeom prst="rect">
            <a:avLst/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480935" y="3886200"/>
            <a:ext cx="585901" cy="2011680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03695" y="5989320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 spc="-13">
                <a:solidFill>
                  <a:srgbClr val="7A7A7A"/>
                </a:solidFill>
                <a:latin typeface="Pretendard"/>
              </a:rPr>
              <a:t>Metric 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66783" y="2357323"/>
            <a:ext cx="585901" cy="3540556"/>
          </a:xfrm>
          <a:prstGeom prst="rect">
            <a:avLst/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144125" y="2960827"/>
            <a:ext cx="585901" cy="2937052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366885" y="5989320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 spc="-13">
                <a:solidFill>
                  <a:srgbClr val="7A7A7A"/>
                </a:solidFill>
                <a:latin typeface="Pretendard"/>
              </a:rPr>
              <a:t>Metric 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0" y="6492240"/>
            <a:ext cx="182880" cy="164592"/>
          </a:xfrm>
          <a:prstGeom prst="rect">
            <a:avLst/>
          </a:prstGeom>
          <a:noFill/>
          <a:ln w="12700">
            <a:solidFill>
              <a:srgbClr val="007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46720" y="640080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-12">
                <a:solidFill>
                  <a:srgbClr val="161616"/>
                </a:solidFill>
                <a:latin typeface="Pretendard"/>
              </a:rPr>
              <a:t>Intervention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01200" y="6492240"/>
            <a:ext cx="182880" cy="164592"/>
          </a:xfrm>
          <a:prstGeom prst="rect">
            <a:avLst/>
          </a:prstGeom>
          <a:noFill/>
          <a:ln w="12700">
            <a:solidFill>
              <a:srgbClr val="006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875520" y="640080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-12">
                <a:solidFill>
                  <a:srgbClr val="161616"/>
                </a:solidFill>
                <a:latin typeface="Pretendard"/>
              </a:rPr>
              <a:t>Comparator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8257" y="662025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-9">
                <a:solidFill>
                  <a:srgbClr val="8E8E93"/>
                </a:solidFill>
                <a:latin typeface="Pretendard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67403" y="6617421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 spc="-8">
                <a:solidFill>
                  <a:srgbClr val="8E8E93"/>
                </a:solidFill>
                <a:latin typeface="Pretendard"/>
              </a:rPr>
              <a:t>Source: study cohort  ·  n = NN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8257" y="12344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-11">
                <a:solidFill>
                  <a:srgbClr val="8E8E93"/>
                </a:solidFill>
                <a:latin typeface="Pretendard"/>
              </a:rPr>
              <a:t>PATTERN B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rcRect l="3240" t="21391" r="16358" b="11330"/>
          <a:stretch>
            <a:fillRect/>
          </a:stretch>
        </p:blipFill>
        <p:spPr>
          <a:xfrm>
            <a:off x="10748356" y="11978"/>
            <a:ext cx="1443644" cy="7985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1460" y="4362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 spc="-30">
                <a:solidFill>
                  <a:srgbClr val="006241"/>
                </a:solidFill>
                <a:latin typeface="Pretendard"/>
              </a:rPr>
              <a:t>KPI Tiles Row + Chart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642" y="1290309"/>
            <a:ext cx="11699382" cy="5227350"/>
          </a:xfrm>
          <a:prstGeom prst="roundRect">
            <a:avLst>
              <a:gd name="adj" fmla="val 209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42900" y="1417320"/>
            <a:ext cx="2776255" cy="1188720"/>
          </a:xfrm>
          <a:prstGeom prst="roundRect">
            <a:avLst>
              <a:gd name="adj" fmla="val 7692"/>
            </a:avLst>
          </a:prstGeom>
          <a:noFill/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42900" y="1417320"/>
            <a:ext cx="2776255" cy="5486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5780" y="1581912"/>
            <a:ext cx="241049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 i="0" spc="-32">
                <a:solidFill>
                  <a:srgbClr val="006241"/>
                </a:solidFill>
                <a:latin typeface="Pretendard"/>
              </a:rPr>
              <a:t>76.3%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" y="2148840"/>
            <a:ext cx="24104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spc="-12">
                <a:solidFill>
                  <a:srgbClr val="7A7A7A"/>
                </a:solidFill>
                <a:latin typeface="Pretendard"/>
              </a:rPr>
              <a:t>Primary outcome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50475" y="1600200"/>
            <a:ext cx="731520" cy="23774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007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50475" y="1600200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spc="-10">
                <a:solidFill>
                  <a:srgbClr val="1F1F1F"/>
                </a:solidFill>
                <a:latin typeface="Pretendard"/>
              </a:rPr>
              <a:t>+8.4%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56315" y="1417320"/>
            <a:ext cx="2776255" cy="1188720"/>
          </a:xfrm>
          <a:prstGeom prst="roundRect">
            <a:avLst>
              <a:gd name="adj" fmla="val 7692"/>
            </a:avLst>
          </a:prstGeom>
          <a:noFill/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56315" y="1417320"/>
            <a:ext cx="2776255" cy="5486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39195" y="1581912"/>
            <a:ext cx="241049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 i="0" spc="-32">
                <a:solidFill>
                  <a:srgbClr val="006241"/>
                </a:solidFill>
                <a:latin typeface="Pretendard"/>
              </a:rPr>
              <a:t>2.1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39195" y="2148840"/>
            <a:ext cx="24104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spc="-12">
                <a:solidFill>
                  <a:srgbClr val="7A7A7A"/>
                </a:solidFill>
                <a:latin typeface="Pretendard"/>
              </a:rPr>
              <a:t>Pain score (6mo)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63891" y="1600200"/>
            <a:ext cx="731520" cy="23774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007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63891" y="1600200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spc="-10">
                <a:solidFill>
                  <a:srgbClr val="1F1F1F"/>
                </a:solidFill>
                <a:latin typeface="Pretendard"/>
              </a:rPr>
              <a:t>▼ 5.3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9731" y="1417320"/>
            <a:ext cx="2776255" cy="1188720"/>
          </a:xfrm>
          <a:prstGeom prst="roundRect">
            <a:avLst>
              <a:gd name="adj" fmla="val 7692"/>
            </a:avLst>
          </a:prstGeom>
          <a:noFill/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69731" y="1417320"/>
            <a:ext cx="2776255" cy="5486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2611" y="1581912"/>
            <a:ext cx="241049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 i="0" spc="-32">
                <a:solidFill>
                  <a:srgbClr val="006241"/>
                </a:solidFill>
                <a:latin typeface="Pretendard"/>
              </a:rPr>
              <a:t>3.5%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2611" y="2148840"/>
            <a:ext cx="24104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spc="-12">
                <a:solidFill>
                  <a:srgbClr val="7A7A7A"/>
                </a:solidFill>
                <a:latin typeface="Pretendard"/>
              </a:rPr>
              <a:t>Complication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77306" y="1600200"/>
            <a:ext cx="731520" cy="23774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007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77306" y="1600200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spc="-10">
                <a:solidFill>
                  <a:srgbClr val="1F1F1F"/>
                </a:solidFill>
                <a:latin typeface="Pretendard"/>
              </a:rPr>
              <a:t>vs 7.2%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83146" y="1417320"/>
            <a:ext cx="2776255" cy="1188720"/>
          </a:xfrm>
          <a:prstGeom prst="roundRect">
            <a:avLst>
              <a:gd name="adj" fmla="val 7692"/>
            </a:avLst>
          </a:prstGeom>
          <a:noFill/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083146" y="1417320"/>
            <a:ext cx="2776255" cy="5486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66026" y="1581912"/>
            <a:ext cx="241049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 i="0" spc="-32">
                <a:solidFill>
                  <a:srgbClr val="006241"/>
                </a:solidFill>
                <a:latin typeface="Pretendard"/>
              </a:rPr>
              <a:t>3.2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66026" y="2148840"/>
            <a:ext cx="24104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spc="-12">
                <a:solidFill>
                  <a:srgbClr val="7A7A7A"/>
                </a:solidFill>
                <a:latin typeface="Pretendard"/>
              </a:rPr>
              <a:t>Stay (days)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90722" y="1600200"/>
            <a:ext cx="731520" cy="23774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007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990722" y="1600200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spc="-10">
                <a:solidFill>
                  <a:srgbClr val="1F1F1F"/>
                </a:solidFill>
                <a:latin typeface="Pretendard"/>
              </a:rPr>
              <a:t>▼ 2.6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4340" y="2834640"/>
            <a:ext cx="11338560" cy="3337560"/>
          </a:xfrm>
          <a:prstGeom prst="roundRect">
            <a:avLst>
              <a:gd name="adj" fmla="val 2739"/>
            </a:avLst>
          </a:prstGeom>
          <a:noFill/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2940" y="297180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-13">
                <a:solidFill>
                  <a:srgbClr val="161616"/>
                </a:solidFill>
                <a:latin typeface="Pretendard"/>
              </a:rPr>
              <a:t>Supporting trend chart — pre- vs post-treatment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1074419" y="4706874"/>
            <a:ext cx="2560321" cy="560070"/>
          </a:xfrm>
          <a:prstGeom prst="line">
            <a:avLst/>
          </a:prstGeom>
          <a:ln w="38100">
            <a:solidFill>
              <a:srgbClr val="0075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3634740" y="4258818"/>
            <a:ext cx="2560320" cy="448056"/>
          </a:xfrm>
          <a:prstGeom prst="line">
            <a:avLst/>
          </a:prstGeom>
          <a:ln w="38100">
            <a:solidFill>
              <a:srgbClr val="0075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6195060" y="3922776"/>
            <a:ext cx="2560320" cy="336042"/>
          </a:xfrm>
          <a:prstGeom prst="line">
            <a:avLst/>
          </a:prstGeom>
          <a:ln w="38100">
            <a:solidFill>
              <a:srgbClr val="0075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755380" y="3810761"/>
            <a:ext cx="2560320" cy="112015"/>
          </a:xfrm>
          <a:prstGeom prst="line">
            <a:avLst/>
          </a:prstGeom>
          <a:ln w="38100">
            <a:solidFill>
              <a:srgbClr val="0075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1001267" y="5193792"/>
            <a:ext cx="146304" cy="146304"/>
          </a:xfrm>
          <a:prstGeom prst="ellipse">
            <a:avLst/>
          </a:prstGeom>
          <a:solidFill>
            <a:srgbClr val="00754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561588" y="4633722"/>
            <a:ext cx="146304" cy="146304"/>
          </a:xfrm>
          <a:prstGeom prst="ellipse">
            <a:avLst/>
          </a:prstGeom>
          <a:solidFill>
            <a:srgbClr val="00754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121908" y="4185665"/>
            <a:ext cx="146304" cy="146304"/>
          </a:xfrm>
          <a:prstGeom prst="ellipse">
            <a:avLst/>
          </a:prstGeom>
          <a:solidFill>
            <a:srgbClr val="00754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8682228" y="3849624"/>
            <a:ext cx="146304" cy="146304"/>
          </a:xfrm>
          <a:prstGeom prst="ellipse">
            <a:avLst/>
          </a:prstGeom>
          <a:solidFill>
            <a:srgbClr val="00754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1242548" y="3737609"/>
            <a:ext cx="146304" cy="146304"/>
          </a:xfrm>
          <a:prstGeom prst="ellipse">
            <a:avLst/>
          </a:prstGeom>
          <a:solidFill>
            <a:srgbClr val="00754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2" name="Connector 41"/>
          <p:cNvCxnSpPr/>
          <p:nvPr/>
        </p:nvCxnSpPr>
        <p:spPr>
          <a:xfrm flipV="1">
            <a:off x="1074419" y="4818888"/>
            <a:ext cx="2560321" cy="448056"/>
          </a:xfrm>
          <a:prstGeom prst="line">
            <a:avLst/>
          </a:prstGeom>
          <a:ln w="38100">
            <a:solidFill>
              <a:srgbClr val="0062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634740" y="4482846"/>
            <a:ext cx="2560320" cy="336042"/>
          </a:xfrm>
          <a:prstGeom prst="line">
            <a:avLst/>
          </a:prstGeom>
          <a:ln w="38100">
            <a:solidFill>
              <a:srgbClr val="0062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6195060" y="4258818"/>
            <a:ext cx="2560320" cy="224028"/>
          </a:xfrm>
          <a:prstGeom prst="line">
            <a:avLst/>
          </a:prstGeom>
          <a:ln w="38100">
            <a:solidFill>
              <a:srgbClr val="0062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755380" y="4101998"/>
            <a:ext cx="2560320" cy="156820"/>
          </a:xfrm>
          <a:prstGeom prst="line">
            <a:avLst/>
          </a:prstGeom>
          <a:ln w="38100">
            <a:solidFill>
              <a:srgbClr val="0062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1001267" y="5193792"/>
            <a:ext cx="146304" cy="146304"/>
          </a:xfrm>
          <a:prstGeom prst="ellipse">
            <a:avLst/>
          </a:prstGeom>
          <a:solidFill>
            <a:srgbClr val="00624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3561588" y="4745736"/>
            <a:ext cx="146304" cy="146304"/>
          </a:xfrm>
          <a:prstGeom prst="ellipse">
            <a:avLst/>
          </a:prstGeom>
          <a:solidFill>
            <a:srgbClr val="00624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6121908" y="4409694"/>
            <a:ext cx="146304" cy="146304"/>
          </a:xfrm>
          <a:prstGeom prst="ellipse">
            <a:avLst/>
          </a:prstGeom>
          <a:solidFill>
            <a:srgbClr val="00624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8682228" y="4185665"/>
            <a:ext cx="146304" cy="146304"/>
          </a:xfrm>
          <a:prstGeom prst="ellipse">
            <a:avLst/>
          </a:prstGeom>
          <a:solidFill>
            <a:srgbClr val="00624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11242548" y="4028846"/>
            <a:ext cx="146304" cy="146304"/>
          </a:xfrm>
          <a:prstGeom prst="ellipse">
            <a:avLst/>
          </a:prstGeom>
          <a:solidFill>
            <a:srgbClr val="00624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62939" y="5806440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 spc="-11">
                <a:solidFill>
                  <a:srgbClr val="7A7A7A"/>
                </a:solidFill>
                <a:latin typeface="Pretendard"/>
              </a:rPr>
              <a:t>Baseline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23260" y="5806440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 spc="-11">
                <a:solidFill>
                  <a:srgbClr val="7A7A7A"/>
                </a:solidFill>
                <a:latin typeface="Pretendard"/>
              </a:rPr>
              <a:t>2 wk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83580" y="5806440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 spc="-11">
                <a:solidFill>
                  <a:srgbClr val="7A7A7A"/>
                </a:solidFill>
                <a:latin typeface="Pretendard"/>
              </a:rPr>
              <a:t>3 mo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43900" y="5806440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 spc="-11">
                <a:solidFill>
                  <a:srgbClr val="7A7A7A"/>
                </a:solidFill>
                <a:latin typeface="Pretendard"/>
              </a:rPr>
              <a:t>6 mo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04220" y="5806440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 spc="-11">
                <a:solidFill>
                  <a:srgbClr val="7A7A7A"/>
                </a:solidFill>
                <a:latin typeface="Pretendard"/>
              </a:rPr>
              <a:t>12 mo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8257" y="662025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-9">
                <a:solidFill>
                  <a:srgbClr val="8E8E93"/>
                </a:solidFill>
                <a:latin typeface="Pretendard"/>
              </a:rPr>
              <a:t>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67403" y="6617421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 spc="-8">
                <a:solidFill>
                  <a:srgbClr val="8E8E93"/>
                </a:solidFill>
                <a:latin typeface="Pretendard"/>
              </a:rPr>
              <a:t>Source: study cohort  ·  n = NN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8257" y="12344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-11">
                <a:solidFill>
                  <a:srgbClr val="8E8E93"/>
                </a:solidFill>
                <a:latin typeface="Pretendard"/>
              </a:rPr>
              <a:t>PATTERN C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rcRect l="3240" t="21391" r="16358" b="11330"/>
          <a:stretch>
            <a:fillRect/>
          </a:stretch>
        </p:blipFill>
        <p:spPr>
          <a:xfrm>
            <a:off x="10748356" y="11978"/>
            <a:ext cx="1443644" cy="7985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1460" y="4362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 spc="-30">
                <a:solidFill>
                  <a:srgbClr val="006241"/>
                </a:solidFill>
                <a:latin typeface="Pretendard"/>
              </a:rPr>
              <a:t>Two-Column — Claim /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642" y="1290309"/>
            <a:ext cx="11699382" cy="5227350"/>
          </a:xfrm>
          <a:prstGeom prst="roundRect">
            <a:avLst>
              <a:gd name="adj" fmla="val 209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7220" y="1645920"/>
            <a:ext cx="586773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 spc="-22">
                <a:solidFill>
                  <a:srgbClr val="161616"/>
                </a:solidFill>
                <a:latin typeface="Pretendard"/>
              </a:rPr>
              <a:t>Headline claim — the punchline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" y="233172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-11">
                <a:solidFill>
                  <a:srgbClr val="00754A"/>
                </a:solidFill>
                <a:latin typeface="Pretendard"/>
              </a:rPr>
              <a:t>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7259" y="2331720"/>
            <a:ext cx="55476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spc="-15">
                <a:solidFill>
                  <a:srgbClr val="1F1F1F"/>
                </a:solidFill>
                <a:latin typeface="Pretendard"/>
              </a:rPr>
              <a:t>First supporting point with concise wording.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" y="2834639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-11">
                <a:solidFill>
                  <a:srgbClr val="00754A"/>
                </a:solidFill>
                <a:latin typeface="Pretendard"/>
              </a:rP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7259" y="2834639"/>
            <a:ext cx="55476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spc="-15">
                <a:solidFill>
                  <a:srgbClr val="1F1F1F"/>
                </a:solidFill>
                <a:latin typeface="Pretendard"/>
              </a:rPr>
              <a:t>Second supporting point with concrete numbers.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" y="3337559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-11">
                <a:solidFill>
                  <a:srgbClr val="00754A"/>
                </a:solidFill>
                <a:latin typeface="Pretendard"/>
              </a:rPr>
              <a:t>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7259" y="3337559"/>
            <a:ext cx="55476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spc="-15">
                <a:solidFill>
                  <a:srgbClr val="1F1F1F"/>
                </a:solidFill>
                <a:latin typeface="Pretendard"/>
              </a:rPr>
              <a:t>Third supporting point with clinical relevance.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" y="5120640"/>
            <a:ext cx="6050612" cy="868680"/>
          </a:xfrm>
          <a:prstGeom prst="roundRect">
            <a:avLst>
              <a:gd name="adj" fmla="val 8421"/>
            </a:avLst>
          </a:prstGeom>
          <a:noFill/>
          <a:ln w="12700">
            <a:solidFill>
              <a:srgbClr val="1E3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8659" y="5212079"/>
            <a:ext cx="57762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-10">
                <a:solidFill>
                  <a:srgbClr val="CBA258"/>
                </a:solidFill>
                <a:latin typeface="Pretendard"/>
              </a:rPr>
              <a:t>KEY TAKEAWAY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59" y="5486400"/>
            <a:ext cx="577629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 spc="-14">
                <a:solidFill>
                  <a:srgbClr val="1F1F1F"/>
                </a:solidFill>
                <a:latin typeface="Pretendard"/>
              </a:rPr>
              <a:t>One-sentence clinical implication.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2152" y="1645920"/>
            <a:ext cx="4917250" cy="4663440"/>
          </a:xfrm>
          <a:prstGeom prst="roundRect">
            <a:avLst>
              <a:gd name="adj" fmla="val 1960"/>
            </a:avLst>
          </a:prstGeom>
          <a:noFill/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70752" y="1828800"/>
            <a:ext cx="446005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-13">
                <a:solidFill>
                  <a:srgbClr val="161616"/>
                </a:solidFill>
                <a:latin typeface="Pretendard"/>
              </a:rPr>
              <a:t>Evidence chart title</a:t>
            </a:r>
          </a:p>
        </p:txBody>
      </p:sp>
      <p:sp>
        <p:nvSpPr>
          <p:cNvPr id="19" name="Oval 18"/>
          <p:cNvSpPr/>
          <p:nvPr/>
        </p:nvSpPr>
        <p:spPr>
          <a:xfrm>
            <a:off x="8394937" y="3200399"/>
            <a:ext cx="2011680" cy="2011680"/>
          </a:xfrm>
          <a:prstGeom prst="ellipse">
            <a:avLst/>
          </a:prstGeom>
          <a:noFill/>
          <a:ln w="12700">
            <a:solidFill>
              <a:srgbClr val="007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806417" y="3611879"/>
            <a:ext cx="1188720" cy="1188720"/>
          </a:xfrm>
          <a:prstGeom prst="ellipse">
            <a:avLst/>
          </a:prstGeom>
          <a:noFill/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23537" y="3886200"/>
            <a:ext cx="1554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1" i="0" spc="-36">
                <a:solidFill>
                  <a:srgbClr val="006241"/>
                </a:solidFill>
                <a:latin typeface="Pretendard"/>
              </a:rPr>
              <a:t>74%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25032" y="5394959"/>
            <a:ext cx="455149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 spc="-11">
                <a:solidFill>
                  <a:srgbClr val="7A7A7A"/>
                </a:solidFill>
                <a:latin typeface="Pretendard"/>
              </a:rPr>
              <a:t>Primary outcome  (12 months)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257" y="662025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-9">
                <a:solidFill>
                  <a:srgbClr val="8E8E93"/>
                </a:solidFill>
                <a:latin typeface="Pretendard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7403" y="6617421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 spc="-8">
                <a:solidFill>
                  <a:srgbClr val="8E8E93"/>
                </a:solidFill>
                <a:latin typeface="Pretendard"/>
              </a:rPr>
              <a:t>Source: study cohort  ·  n = NN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8257" y="12344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-11">
                <a:solidFill>
                  <a:srgbClr val="8E8E93"/>
                </a:solidFill>
                <a:latin typeface="Pretendard"/>
              </a:rPr>
              <a:t>PATTERN D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rcRect l="3240" t="21391" r="16358" b="11330"/>
          <a:stretch>
            <a:fillRect/>
          </a:stretch>
        </p:blipFill>
        <p:spPr>
          <a:xfrm>
            <a:off x="10748356" y="11978"/>
            <a:ext cx="1443644" cy="7985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1460" y="4362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 spc="-30">
                <a:solidFill>
                  <a:srgbClr val="006241"/>
                </a:solidFill>
                <a:latin typeface="Pretendard"/>
              </a:rPr>
              <a:t>Three KPI Tiles + Chart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642" y="1290309"/>
            <a:ext cx="11699382" cy="5227350"/>
          </a:xfrm>
          <a:prstGeom prst="roundRect">
            <a:avLst>
              <a:gd name="adj" fmla="val 209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42900" y="1508760"/>
            <a:ext cx="3716914" cy="1417320"/>
          </a:xfrm>
          <a:prstGeom prst="roundRect">
            <a:avLst>
              <a:gd name="adj" fmla="val 6451"/>
            </a:avLst>
          </a:prstGeom>
          <a:noFill/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42900" y="1508760"/>
            <a:ext cx="3716914" cy="731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5780" y="1691639"/>
            <a:ext cx="335115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-11">
                <a:solidFill>
                  <a:srgbClr val="00754A"/>
                </a:solidFill>
                <a:latin typeface="Pretendard"/>
              </a:rPr>
              <a:t>PRIMARY ENDPOINT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" y="1965960"/>
            <a:ext cx="3351154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0" b="1" i="0" spc="-40">
                <a:solidFill>
                  <a:srgbClr val="006241"/>
                </a:solidFill>
                <a:latin typeface="Pretendard"/>
              </a:rPr>
              <a:t>76.3%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" y="2560320"/>
            <a:ext cx="335115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spc="-12">
                <a:solidFill>
                  <a:srgbClr val="7A7A7A"/>
                </a:solidFill>
                <a:latin typeface="Pretendard"/>
              </a:rPr>
              <a:t>Achieved at 12 months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42694" y="1508760"/>
            <a:ext cx="3716914" cy="1417320"/>
          </a:xfrm>
          <a:prstGeom prst="roundRect">
            <a:avLst>
              <a:gd name="adj" fmla="val 6451"/>
            </a:avLst>
          </a:prstGeom>
          <a:noFill/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42694" y="1508760"/>
            <a:ext cx="3716914" cy="731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25574" y="1691639"/>
            <a:ext cx="335115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-11">
                <a:solidFill>
                  <a:srgbClr val="00754A"/>
                </a:solidFill>
                <a:latin typeface="Pretendard"/>
              </a:rPr>
              <a:t>SAFETY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5574" y="1965960"/>
            <a:ext cx="3351154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0" b="1" i="0" spc="-40">
                <a:solidFill>
                  <a:srgbClr val="006241"/>
                </a:solidFill>
                <a:latin typeface="Pretendard"/>
              </a:rPr>
              <a:t>0.0%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5574" y="2560320"/>
            <a:ext cx="335115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spc="-12">
                <a:solidFill>
                  <a:srgbClr val="7A7A7A"/>
                </a:solidFill>
                <a:latin typeface="Pretendard"/>
              </a:rPr>
              <a:t>Zero adverse events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42488" y="1508760"/>
            <a:ext cx="3716914" cy="1417320"/>
          </a:xfrm>
          <a:prstGeom prst="roundRect">
            <a:avLst>
              <a:gd name="adj" fmla="val 6451"/>
            </a:avLst>
          </a:prstGeom>
          <a:noFill/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42488" y="1508760"/>
            <a:ext cx="3716914" cy="731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5368" y="1691639"/>
            <a:ext cx="335115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-11">
                <a:solidFill>
                  <a:srgbClr val="00754A"/>
                </a:solidFill>
                <a:latin typeface="Pretendard"/>
              </a:rPr>
              <a:t>SATISFACTION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5368" y="1965960"/>
            <a:ext cx="3351154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0" b="1" i="0" spc="-40">
                <a:solidFill>
                  <a:srgbClr val="006241"/>
                </a:solidFill>
                <a:latin typeface="Pretendard"/>
              </a:rPr>
              <a:t>4.6 /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5368" y="2560320"/>
            <a:ext cx="335115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spc="-12">
                <a:solidFill>
                  <a:srgbClr val="7A7A7A"/>
                </a:solidFill>
                <a:latin typeface="Pretendard"/>
              </a:rPr>
              <a:t>Patient-reported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" y="3246120"/>
            <a:ext cx="11338560" cy="2926080"/>
          </a:xfrm>
          <a:prstGeom prst="roundRect">
            <a:avLst>
              <a:gd name="adj" fmla="val 3125"/>
            </a:avLst>
          </a:prstGeom>
          <a:noFill/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2940" y="3383279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-13">
                <a:solidFill>
                  <a:srgbClr val="161616"/>
                </a:solidFill>
                <a:latin typeface="Pretendard"/>
              </a:rPr>
              <a:t>Supporting comparison chart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40204" y="4347057"/>
            <a:ext cx="1383030" cy="1185062"/>
          </a:xfrm>
          <a:prstGeom prst="rect">
            <a:avLst/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65884" y="4072737"/>
            <a:ext cx="193167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spc="-12">
                <a:solidFill>
                  <a:srgbClr val="00754A"/>
                </a:solidFill>
                <a:latin typeface="Pretendard"/>
              </a:rPr>
              <a:t>72%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65884" y="5577840"/>
            <a:ext cx="193167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spc="-12">
                <a:solidFill>
                  <a:srgbClr val="7A7A7A"/>
                </a:solidFill>
                <a:latin typeface="Pretendard"/>
              </a:rPr>
              <a:t>Group 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54804" y="4626864"/>
            <a:ext cx="1383030" cy="905256"/>
          </a:xfrm>
          <a:prstGeom prst="rect">
            <a:avLst/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880484" y="4352544"/>
            <a:ext cx="193167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spc="-12">
                <a:solidFill>
                  <a:srgbClr val="00754A"/>
                </a:solidFill>
                <a:latin typeface="Pretendard"/>
              </a:rPr>
              <a:t>55%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80484" y="5577840"/>
            <a:ext cx="193167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spc="-12">
                <a:solidFill>
                  <a:srgbClr val="7A7A7A"/>
                </a:solidFill>
                <a:latin typeface="Pretendard"/>
              </a:rPr>
              <a:t>Group 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69404" y="4149547"/>
            <a:ext cx="1383030" cy="1382572"/>
          </a:xfrm>
          <a:prstGeom prst="rect">
            <a:avLst/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95084" y="3875227"/>
            <a:ext cx="193167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spc="-12">
                <a:solidFill>
                  <a:srgbClr val="00754A"/>
                </a:solidFill>
                <a:latin typeface="Pretendard"/>
              </a:rPr>
              <a:t>84%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5084" y="5577840"/>
            <a:ext cx="193167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spc="-12">
                <a:solidFill>
                  <a:srgbClr val="7A7A7A"/>
                </a:solidFill>
                <a:latin typeface="Pretendard"/>
              </a:rPr>
              <a:t>Group 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84005" y="4824374"/>
            <a:ext cx="1383030" cy="707745"/>
          </a:xfrm>
          <a:prstGeom prst="rect">
            <a:avLst/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909685" y="4550054"/>
            <a:ext cx="193167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spc="-12">
                <a:solidFill>
                  <a:srgbClr val="00754A"/>
                </a:solidFill>
                <a:latin typeface="Pretendard"/>
              </a:rPr>
              <a:t>43%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09685" y="5577840"/>
            <a:ext cx="193167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spc="-12">
                <a:solidFill>
                  <a:srgbClr val="7A7A7A"/>
                </a:solidFill>
                <a:latin typeface="Pretendard"/>
              </a:rPr>
              <a:t>Group 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8257" y="662025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-9">
                <a:solidFill>
                  <a:srgbClr val="8E8E93"/>
                </a:solidFill>
                <a:latin typeface="Pretendard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67403" y="6617421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 spc="-8">
                <a:solidFill>
                  <a:srgbClr val="8E8E93"/>
                </a:solidFill>
                <a:latin typeface="Pretendard"/>
              </a:rPr>
              <a:t>Source: study cohort  ·  n = NN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8257" y="12344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-11">
                <a:solidFill>
                  <a:srgbClr val="8E8E93"/>
                </a:solidFill>
                <a:latin typeface="Pretendard"/>
              </a:rPr>
              <a:t>PATTERN E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rcRect l="3240" t="21391" r="16358" b="11330"/>
          <a:stretch>
            <a:fillRect/>
          </a:stretch>
        </p:blipFill>
        <p:spPr>
          <a:xfrm>
            <a:off x="10748356" y="11978"/>
            <a:ext cx="1443644" cy="7985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1460" y="4362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 spc="-30">
                <a:solidFill>
                  <a:srgbClr val="006241"/>
                </a:solidFill>
                <a:latin typeface="Pretendard"/>
              </a:rPr>
              <a:t>Full-Width Table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642" y="1290309"/>
            <a:ext cx="11699382" cy="5227350"/>
          </a:xfrm>
          <a:prstGeom prst="roundRect">
            <a:avLst>
              <a:gd name="adj" fmla="val 209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4340" y="1280160"/>
            <a:ext cx="11338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-14">
                <a:solidFill>
                  <a:srgbClr val="161616"/>
                </a:solidFill>
                <a:latin typeface="Pretendard"/>
              </a:rPr>
              <a:t>Outcome comparison — Intervention vs Comparator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" y="1645920"/>
            <a:ext cx="1133856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7220" y="1645920"/>
            <a:ext cx="3383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-12">
                <a:solidFill>
                  <a:srgbClr val="161616"/>
                </a:solidFill>
                <a:latin typeface="Pretendard"/>
              </a:rPr>
              <a:t>Outcome metric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91939" y="1645920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spc="-12">
                <a:solidFill>
                  <a:srgbClr val="00754A"/>
                </a:solidFill>
                <a:latin typeface="Pretendard"/>
              </a:rPr>
              <a:t>Intervention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2420" y="1645920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spc="-12">
                <a:solidFill>
                  <a:srgbClr val="006241"/>
                </a:solidFill>
                <a:latin typeface="Pretendard"/>
              </a:rPr>
              <a:t>Comparator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" y="2148840"/>
            <a:ext cx="11338560" cy="50292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7220" y="2148840"/>
            <a:ext cx="3383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-12">
                <a:solidFill>
                  <a:srgbClr val="161616"/>
                </a:solidFill>
                <a:latin typeface="Pretendard"/>
              </a:rPr>
              <a:t>Primary outcome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1939" y="2148840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 spc="-13">
                <a:solidFill>
                  <a:srgbClr val="161616"/>
                </a:solidFill>
                <a:latin typeface="Pretendard"/>
              </a:rPr>
              <a:t>12.4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32420" y="2148840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 spc="-13">
                <a:solidFill>
                  <a:srgbClr val="161616"/>
                </a:solidFill>
                <a:latin typeface="Pretendard"/>
              </a:rPr>
              <a:t>13.1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" y="2651760"/>
            <a:ext cx="1133856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7220" y="2651760"/>
            <a:ext cx="3383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-12">
                <a:solidFill>
                  <a:srgbClr val="161616"/>
                </a:solidFill>
                <a:latin typeface="Pretendard"/>
              </a:rPr>
              <a:t>Pain score (6mo)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91939" y="2651760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 spc="-13">
                <a:solidFill>
                  <a:srgbClr val="00754A"/>
                </a:solidFill>
                <a:latin typeface="Pretendard"/>
              </a:rPr>
              <a:t>2.1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32420" y="2651760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 spc="-13">
                <a:solidFill>
                  <a:srgbClr val="161616"/>
                </a:solidFill>
                <a:latin typeface="Pretendard"/>
              </a:rPr>
              <a:t>4.5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087100" y="2784348"/>
            <a:ext cx="548640" cy="23774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BA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087100" y="2784348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spc="-9">
                <a:solidFill>
                  <a:srgbClr val="1F1F1F"/>
                </a:solidFill>
                <a:latin typeface="Pretendard"/>
              </a:rPr>
              <a:t>p&lt;.05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" y="3154680"/>
            <a:ext cx="11338560" cy="50292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7220" y="3154680"/>
            <a:ext cx="3383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-12">
                <a:solidFill>
                  <a:srgbClr val="161616"/>
                </a:solidFill>
                <a:latin typeface="Pretendard"/>
              </a:rPr>
              <a:t>Quality of life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91939" y="3154680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 spc="-13">
                <a:solidFill>
                  <a:srgbClr val="161616"/>
                </a:solidFill>
                <a:latin typeface="Pretendard"/>
              </a:rPr>
              <a:t>0.82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2420" y="3154680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 spc="-13">
                <a:solidFill>
                  <a:srgbClr val="161616"/>
                </a:solidFill>
                <a:latin typeface="Pretendard"/>
              </a:rPr>
              <a:t>0.79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" y="3657600"/>
            <a:ext cx="1133856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7220" y="3657600"/>
            <a:ext cx="3383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-12">
                <a:solidFill>
                  <a:srgbClr val="161616"/>
                </a:solidFill>
                <a:latin typeface="Pretendard"/>
              </a:rPr>
              <a:t>Complication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91939" y="3657600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 spc="-13">
                <a:solidFill>
                  <a:srgbClr val="00754A"/>
                </a:solidFill>
                <a:latin typeface="Pretendard"/>
              </a:rPr>
              <a:t>3.5%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32420" y="3657600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 spc="-13">
                <a:solidFill>
                  <a:srgbClr val="161616"/>
                </a:solidFill>
                <a:latin typeface="Pretendard"/>
              </a:rPr>
              <a:t>7.2%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087100" y="3790187"/>
            <a:ext cx="548640" cy="23774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BA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087100" y="3790187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spc="-9">
                <a:solidFill>
                  <a:srgbClr val="1F1F1F"/>
                </a:solidFill>
                <a:latin typeface="Pretendard"/>
              </a:rPr>
              <a:t>p&lt;.05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" y="4160520"/>
            <a:ext cx="11338560" cy="50292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7220" y="4160520"/>
            <a:ext cx="3383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-12">
                <a:solidFill>
                  <a:srgbClr val="161616"/>
                </a:solidFill>
                <a:latin typeface="Pretendard"/>
              </a:rPr>
              <a:t>Hospital stay (days)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91939" y="4160520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 spc="-13">
                <a:solidFill>
                  <a:srgbClr val="00754A"/>
                </a:solidFill>
                <a:latin typeface="Pretendard"/>
              </a:rPr>
              <a:t>3.2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32420" y="4160520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 spc="-13">
                <a:solidFill>
                  <a:srgbClr val="161616"/>
                </a:solidFill>
                <a:latin typeface="Pretendard"/>
              </a:rPr>
              <a:t>5.8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087100" y="4293108"/>
            <a:ext cx="548640" cy="23774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BA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087100" y="4293108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spc="-9">
                <a:solidFill>
                  <a:srgbClr val="1F1F1F"/>
                </a:solidFill>
                <a:latin typeface="Pretendard"/>
              </a:rPr>
              <a:t>p&lt;.05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4340" y="4663440"/>
            <a:ext cx="1133856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7220" y="4663440"/>
            <a:ext cx="3383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-12">
                <a:solidFill>
                  <a:srgbClr val="161616"/>
                </a:solidFill>
                <a:latin typeface="Pretendard"/>
              </a:rPr>
              <a:t>Return to work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91939" y="4663440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 spc="-13">
                <a:solidFill>
                  <a:srgbClr val="00754A"/>
                </a:solidFill>
                <a:latin typeface="Pretendard"/>
              </a:rPr>
              <a:t>21d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32420" y="4663440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 spc="-13">
                <a:solidFill>
                  <a:srgbClr val="161616"/>
                </a:solidFill>
                <a:latin typeface="Pretendard"/>
              </a:rPr>
              <a:t>34d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087100" y="4796027"/>
            <a:ext cx="548640" cy="23774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BA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1087100" y="4796027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spc="-9">
                <a:solidFill>
                  <a:srgbClr val="1F1F1F"/>
                </a:solidFill>
                <a:latin typeface="Pretendard"/>
              </a:rPr>
              <a:t>p&lt;.05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4340" y="5166360"/>
            <a:ext cx="11338560" cy="50292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17220" y="5166360"/>
            <a:ext cx="3383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-12">
                <a:solidFill>
                  <a:srgbClr val="161616"/>
                </a:solidFill>
                <a:latin typeface="Pretendard"/>
              </a:rPr>
              <a:t>Satisfaction (1-5)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91939" y="5166360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 spc="-13">
                <a:solidFill>
                  <a:srgbClr val="161616"/>
                </a:solidFill>
                <a:latin typeface="Pretendard"/>
              </a:rPr>
              <a:t>4.6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32420" y="5166360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 spc="-13">
                <a:solidFill>
                  <a:srgbClr val="161616"/>
                </a:solidFill>
                <a:latin typeface="Pretendard"/>
              </a:rPr>
              <a:t>4.3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8257" y="662025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-9">
                <a:solidFill>
                  <a:srgbClr val="8E8E93"/>
                </a:solidFill>
                <a:latin typeface="Pretendard"/>
              </a:rPr>
              <a:t>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67403" y="6617421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 spc="-8">
                <a:solidFill>
                  <a:srgbClr val="8E8E93"/>
                </a:solidFill>
                <a:latin typeface="Pretendard"/>
              </a:rPr>
              <a:t>Source: study cohort  ·  n = NN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8257" y="12344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-11">
                <a:solidFill>
                  <a:srgbClr val="8E8E93"/>
                </a:solidFill>
                <a:latin typeface="Pretendard"/>
              </a:rPr>
              <a:t>PATTERN F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rcRect l="3240" t="21391" r="16358" b="11330"/>
          <a:stretch>
            <a:fillRect/>
          </a:stretch>
        </p:blipFill>
        <p:spPr>
          <a:xfrm>
            <a:off x="10748356" y="11978"/>
            <a:ext cx="1443644" cy="7985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1460" y="4362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 spc="-30">
                <a:solidFill>
                  <a:srgbClr val="006241"/>
                </a:solidFill>
                <a:latin typeface="Pretendard"/>
              </a:rPr>
              <a:t>Stacked Insight Layers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642" y="1290309"/>
            <a:ext cx="11699382" cy="5227350"/>
          </a:xfrm>
          <a:prstGeom prst="roundRect">
            <a:avLst>
              <a:gd name="adj" fmla="val 209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34340" y="1508760"/>
            <a:ext cx="11338560" cy="1188720"/>
          </a:xfrm>
          <a:prstGeom prst="roundRect">
            <a:avLst>
              <a:gd name="adj" fmla="val 7692"/>
            </a:avLst>
          </a:prstGeom>
          <a:noFill/>
          <a:ln w="12700">
            <a:solidFill>
              <a:srgbClr val="1E3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7220" y="1691639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-11">
                <a:solidFill>
                  <a:srgbClr val="CBA258"/>
                </a:solidFill>
                <a:latin typeface="Pretendard"/>
              </a:rPr>
              <a:t>KEY FINDING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" y="201168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 spc="-22">
                <a:solidFill>
                  <a:srgbClr val="1F1F1F"/>
                </a:solidFill>
                <a:latin typeface="Pretendard"/>
              </a:rPr>
              <a:t>A single sentence stating the primary takeaway.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" y="2880360"/>
            <a:ext cx="11338560" cy="2194560"/>
          </a:xfrm>
          <a:prstGeom prst="roundRect">
            <a:avLst>
              <a:gd name="adj" fmla="val 4166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7220" y="301752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-12">
                <a:solidFill>
                  <a:srgbClr val="161616"/>
                </a:solidFill>
                <a:latin typeface="Pretendard"/>
              </a:rPr>
              <a:t>Supporting evidence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54480" y="3879341"/>
            <a:ext cx="548640" cy="921257"/>
          </a:xfrm>
          <a:prstGeom prst="rect">
            <a:avLst/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194560" y="4205325"/>
            <a:ext cx="548640" cy="595274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17320" y="4846320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 spc="-11">
                <a:solidFill>
                  <a:srgbClr val="7A7A7A"/>
                </a:solidFill>
                <a:latin typeface="Pretendard"/>
              </a:rPr>
              <a:t>Outcome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3695090"/>
            <a:ext cx="548640" cy="1105509"/>
          </a:xfrm>
          <a:prstGeom prst="rect">
            <a:avLst/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937759" y="4021074"/>
            <a:ext cx="548640" cy="77952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60520" y="4846320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 spc="-11">
                <a:solidFill>
                  <a:srgbClr val="7A7A7A"/>
                </a:solidFill>
                <a:latin typeface="Pretendard"/>
              </a:rPr>
              <a:t>Outcome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40880" y="4162806"/>
            <a:ext cx="548640" cy="637793"/>
          </a:xfrm>
          <a:prstGeom prst="rect">
            <a:avLst/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680960" y="3921861"/>
            <a:ext cx="548640" cy="878738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03720" y="4846320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 spc="-11">
                <a:solidFill>
                  <a:srgbClr val="7A7A7A"/>
                </a:solidFill>
                <a:latin typeface="Pretendard"/>
              </a:rPr>
              <a:t>Outcome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84080" y="3553358"/>
            <a:ext cx="548640" cy="1247241"/>
          </a:xfrm>
          <a:prstGeom prst="rect">
            <a:avLst/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0424160" y="3794302"/>
            <a:ext cx="548640" cy="1006297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46919" y="4846320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 spc="-11">
                <a:solidFill>
                  <a:srgbClr val="7A7A7A"/>
                </a:solidFill>
                <a:latin typeface="Pretendard"/>
              </a:rPr>
              <a:t>Outcome 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" y="5257800"/>
            <a:ext cx="11338560" cy="1143000"/>
          </a:xfrm>
          <a:prstGeom prst="roundRect">
            <a:avLst>
              <a:gd name="adj" fmla="val 8000"/>
            </a:avLst>
          </a:prstGeom>
          <a:solidFill>
            <a:srgbClr val="D4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7220" y="5422392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-11">
                <a:solidFill>
                  <a:srgbClr val="006241"/>
                </a:solidFill>
                <a:latin typeface="Pretendard"/>
              </a:rPr>
              <a:t>CLINICAL IMPLICATION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" y="576072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spc="-16">
                <a:solidFill>
                  <a:srgbClr val="161616"/>
                </a:solidFill>
                <a:latin typeface="Pretendard"/>
              </a:rPr>
              <a:t>How this changes clinical practice, in one or two lines.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257" y="662025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-9">
                <a:solidFill>
                  <a:srgbClr val="8E8E93"/>
                </a:solidFill>
                <a:latin typeface="Pretendard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7403" y="6617421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 spc="-8">
                <a:solidFill>
                  <a:srgbClr val="8E8E93"/>
                </a:solidFill>
                <a:latin typeface="Pretendard"/>
              </a:rPr>
              <a:t>Source: study cohort  ·  n = NN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8257" y="12344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-11">
                <a:solidFill>
                  <a:srgbClr val="8E8E93"/>
                </a:solidFill>
                <a:latin typeface="Pretendard"/>
              </a:rPr>
              <a:t>PATTERN G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rcRect l="3240" t="21391" r="16358" b="11330"/>
          <a:stretch>
            <a:fillRect/>
          </a:stretch>
        </p:blipFill>
        <p:spPr>
          <a:xfrm>
            <a:off x="10748356" y="11978"/>
            <a:ext cx="1443644" cy="798573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51642" y="1290309"/>
            <a:ext cx="11699382" cy="5227350"/>
          </a:xfrm>
          <a:prstGeom prst="roundRect">
            <a:avLst>
              <a:gd name="adj" fmla="val 209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51460" y="2194560"/>
            <a:ext cx="11699748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0" b="1" i="0" spc="-60">
                <a:solidFill>
                  <a:srgbClr val="006241"/>
                </a:solidFill>
                <a:latin typeface="Pretendard"/>
              </a:rPr>
              <a:t>One bold claim.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" y="3154680"/>
            <a:ext cx="11699748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0" b="1" i="0" spc="-60">
                <a:solidFill>
                  <a:srgbClr val="006241"/>
                </a:solidFill>
                <a:latin typeface="Pretendard"/>
              </a:rPr>
              <a:t>One strong number.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" y="4114800"/>
            <a:ext cx="11699748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0" b="1" i="0" spc="-60">
                <a:solidFill>
                  <a:srgbClr val="00754A"/>
                </a:solidFill>
                <a:latin typeface="Pretendard"/>
              </a:rPr>
              <a:t>One clear answer.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" y="5623560"/>
            <a:ext cx="116997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1" spc="-15">
                <a:solidFill>
                  <a:srgbClr val="7A7A7A"/>
                </a:solidFill>
                <a:latin typeface="Pretendard"/>
              </a:rPr>
              <a:t>Sub-line — short italic descriptor that complements the big lines above.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257" y="662025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-9">
                <a:solidFill>
                  <a:srgbClr val="8E8E93"/>
                </a:solidFill>
                <a:latin typeface="Pretendard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7403" y="6617421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8257" y="12344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-11">
                <a:solidFill>
                  <a:srgbClr val="8E8E93"/>
                </a:solidFill>
                <a:latin typeface="Pretendard"/>
              </a:rPr>
              <a:t>PATTERN H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rcRect l="3240" t="21391" r="16358" b="11330"/>
          <a:stretch>
            <a:fillRect/>
          </a:stretch>
        </p:blipFill>
        <p:spPr>
          <a:xfrm>
            <a:off x="10748356" y="11978"/>
            <a:ext cx="1443644" cy="7985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1460" y="4362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 spc="-30">
                <a:solidFill>
                  <a:srgbClr val="006241"/>
                </a:solidFill>
                <a:latin typeface="Pretendard"/>
              </a:rPr>
              <a:t>Pillar Cards — multi-dimensional summary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642" y="1290309"/>
            <a:ext cx="11699382" cy="5227350"/>
          </a:xfrm>
          <a:prstGeom prst="roundRect">
            <a:avLst>
              <a:gd name="adj" fmla="val 209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34340" y="1783080"/>
            <a:ext cx="3643762" cy="3383280"/>
          </a:xfrm>
          <a:prstGeom prst="roundRect">
            <a:avLst>
              <a:gd name="adj" fmla="val 3243"/>
            </a:avLst>
          </a:prstGeom>
          <a:noFill/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4340" y="1783080"/>
            <a:ext cx="3643762" cy="91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341821" y="2103120"/>
            <a:ext cx="1828800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007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41821" y="2103120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spc="-12">
                <a:solidFill>
                  <a:srgbClr val="1F1F1F"/>
                </a:solidFill>
                <a:latin typeface="Pretendard"/>
              </a:rPr>
              <a:t>PILLAR 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" y="2788920"/>
            <a:ext cx="327800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 i="0" spc="-44">
                <a:solidFill>
                  <a:srgbClr val="006241"/>
                </a:solidFill>
                <a:latin typeface="Pretendard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" y="3611880"/>
            <a:ext cx="327800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 spc="-18">
                <a:solidFill>
                  <a:srgbClr val="161616"/>
                </a:solidFill>
                <a:latin typeface="Pretendard"/>
              </a:rPr>
              <a:t>Achieved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" y="4114800"/>
            <a:ext cx="3278002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0" i="0" spc="-13">
                <a:solidFill>
                  <a:srgbClr val="1F1F1F"/>
                </a:solidFill>
                <a:latin typeface="Pretendard"/>
              </a:rPr>
              <a:t>One-line description of
why this pillar matters.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270" y="1783080"/>
            <a:ext cx="3643762" cy="3383280"/>
          </a:xfrm>
          <a:prstGeom prst="roundRect">
            <a:avLst>
              <a:gd name="adj" fmla="val 3243"/>
            </a:avLst>
          </a:prstGeom>
          <a:noFill/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79270" y="1783080"/>
            <a:ext cx="3643762" cy="91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186751" y="2103120"/>
            <a:ext cx="1828800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007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86751" y="2103120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spc="-12">
                <a:solidFill>
                  <a:srgbClr val="1F1F1F"/>
                </a:solidFill>
                <a:latin typeface="Pretendard"/>
              </a:rPr>
              <a:t>PILLAR TWO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150" y="2788920"/>
            <a:ext cx="327800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 i="0" spc="-44">
                <a:solidFill>
                  <a:srgbClr val="006241"/>
                </a:solidFill>
                <a:latin typeface="Pretendard"/>
              </a:rPr>
              <a:t>Zero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150" y="3611880"/>
            <a:ext cx="327800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 spc="-18">
                <a:solidFill>
                  <a:srgbClr val="161616"/>
                </a:solidFill>
                <a:latin typeface="Pretendard"/>
              </a:rPr>
              <a:t>Safety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150" y="4114800"/>
            <a:ext cx="3278002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0" i="0" spc="-13">
                <a:solidFill>
                  <a:srgbClr val="1F1F1F"/>
                </a:solidFill>
                <a:latin typeface="Pretendard"/>
              </a:rPr>
              <a:t>One-line description of
why this pillar matters.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24200" y="1783080"/>
            <a:ext cx="3643762" cy="3383280"/>
          </a:xfrm>
          <a:prstGeom prst="roundRect">
            <a:avLst>
              <a:gd name="adj" fmla="val 3243"/>
            </a:avLst>
          </a:prstGeom>
          <a:noFill/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24200" y="1783080"/>
            <a:ext cx="3643762" cy="91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031681" y="2103120"/>
            <a:ext cx="1828800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007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31681" y="2103120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spc="-12">
                <a:solidFill>
                  <a:srgbClr val="1F1F1F"/>
                </a:solidFill>
                <a:latin typeface="Pretendard"/>
              </a:rPr>
              <a:t>PILLAR THREE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7080" y="2788920"/>
            <a:ext cx="327800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 i="0" spc="-44">
                <a:solidFill>
                  <a:srgbClr val="006241"/>
                </a:solidFill>
                <a:latin typeface="Pretendard"/>
              </a:rPr>
              <a:t>94.9%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7080" y="3611880"/>
            <a:ext cx="327800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 spc="-18">
                <a:solidFill>
                  <a:srgbClr val="161616"/>
                </a:solidFill>
                <a:latin typeface="Pretendard"/>
              </a:rPr>
              <a:t>Value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7080" y="4114800"/>
            <a:ext cx="3278002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0" i="0" spc="-13">
                <a:solidFill>
                  <a:srgbClr val="1F1F1F"/>
                </a:solidFill>
                <a:latin typeface="Pretendard"/>
              </a:rPr>
              <a:t>One-line description of
why this pillar matters.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669280"/>
            <a:ext cx="11201400" cy="685800"/>
          </a:xfrm>
          <a:prstGeom prst="roundRect">
            <a:avLst>
              <a:gd name="adj" fmla="val 13333"/>
            </a:avLst>
          </a:prstGeom>
          <a:noFill/>
          <a:ln w="12700">
            <a:solidFill>
              <a:srgbClr val="1E3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800" y="5669280"/>
            <a:ext cx="108356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 spc="-17">
                <a:solidFill>
                  <a:srgbClr val="1F1F1F"/>
                </a:solidFill>
                <a:latin typeface="Pretendard"/>
              </a:rPr>
              <a:t>Unified take-home sentence linking the three pillars.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257" y="662025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-9">
                <a:solidFill>
                  <a:srgbClr val="8E8E93"/>
                </a:solidFill>
                <a:latin typeface="Pretendard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67403" y="6617421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8257" y="12344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-11">
                <a:solidFill>
                  <a:srgbClr val="8E8E93"/>
                </a:solidFill>
                <a:latin typeface="Pretendard"/>
              </a:rPr>
              <a:t>PATTERN I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rcRect l="3240" t="21391" r="16358" b="11330"/>
          <a:stretch>
            <a:fillRect/>
          </a:stretch>
        </p:blipFill>
        <p:spPr>
          <a:xfrm>
            <a:off x="10748356" y="11978"/>
            <a:ext cx="1443644" cy="7985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1460" y="4362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 spc="-30">
                <a:solidFill>
                  <a:srgbClr val="006241"/>
                </a:solidFill>
                <a:latin typeface="Pretendard"/>
              </a:rPr>
              <a:t>Forest Plot — Equivalence margin band visible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642" y="1290309"/>
            <a:ext cx="11699382" cy="5227350"/>
          </a:xfrm>
          <a:prstGeom prst="roundRect">
            <a:avLst>
              <a:gd name="adj" fmla="val 209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11201400" cy="2011680"/>
          </a:xfrm>
          <a:prstGeom prst="roundRect">
            <a:avLst>
              <a:gd name="adj" fmla="val 3636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508760"/>
            <a:ext cx="73152" cy="2011680"/>
          </a:xfrm>
          <a:prstGeom prst="rect">
            <a:avLst/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673351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spc="-20">
                <a:solidFill>
                  <a:srgbClr val="161616"/>
                </a:solidFill>
                <a:latin typeface="Pretendard"/>
              </a:rPr>
              <a:t>Trial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39112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spc="-12">
                <a:solidFill>
                  <a:srgbClr val="7A7A7A"/>
                </a:solidFill>
                <a:latin typeface="Pretendard"/>
              </a:rPr>
              <a:t>Journal  ·  YYYY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423160"/>
            <a:ext cx="1097280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007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423160"/>
            <a:ext cx="10972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spc="-14">
                <a:solidFill>
                  <a:srgbClr val="1F1F1F"/>
                </a:solidFill>
                <a:latin typeface="Pretendard"/>
              </a:rPr>
              <a:t>Cohort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423160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 spc="-14">
                <a:solidFill>
                  <a:srgbClr val="7A7A7A"/>
                </a:solidFill>
                <a:latin typeface="Pretendard"/>
              </a:rPr>
              <a:t>n = 87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57244" y="2103120"/>
            <a:ext cx="6047232" cy="822960"/>
          </a:xfrm>
          <a:prstGeom prst="rect">
            <a:avLst/>
          </a:prstGeom>
          <a:solidFill>
            <a:srgbClr val="D4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849928" y="2103120"/>
            <a:ext cx="14630" cy="822960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897160" y="2103120"/>
            <a:ext cx="14630" cy="822960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76288" y="2103120"/>
            <a:ext cx="9144" cy="82296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817870" y="2478024"/>
            <a:ext cx="2409443" cy="73152"/>
          </a:xfrm>
          <a:prstGeom prst="rect">
            <a:avLst/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806897" y="2350008"/>
            <a:ext cx="21945" cy="329184"/>
          </a:xfrm>
          <a:prstGeom prst="rect">
            <a:avLst/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16341" y="2350008"/>
            <a:ext cx="21945" cy="329184"/>
          </a:xfrm>
          <a:prstGeom prst="rect">
            <a:avLst/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Diamond 20"/>
          <p:cNvSpPr/>
          <p:nvPr/>
        </p:nvSpPr>
        <p:spPr>
          <a:xfrm>
            <a:off x="6885432" y="2377440"/>
            <a:ext cx="274320" cy="274320"/>
          </a:xfrm>
          <a:prstGeom prst="diamond">
            <a:avLst/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971800" y="297180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spc="-12">
                <a:solidFill>
                  <a:srgbClr val="7A7A7A"/>
                </a:solidFill>
                <a:latin typeface="Pretendard"/>
              </a:rPr>
              <a:t>−15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91484" y="297180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spc="-12">
                <a:solidFill>
                  <a:srgbClr val="006241"/>
                </a:solidFill>
                <a:latin typeface="Pretendard"/>
              </a:rPr>
              <a:t>−12.8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5100" y="297180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spc="-12">
                <a:solidFill>
                  <a:srgbClr val="7A7A7A"/>
                </a:solidFill>
                <a:latin typeface="Pretendard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38716" y="297180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spc="-12">
                <a:solidFill>
                  <a:srgbClr val="006241"/>
                </a:solidFill>
                <a:latin typeface="Pretendard"/>
              </a:rPr>
              <a:t>+12.8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297180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spc="-12">
                <a:solidFill>
                  <a:srgbClr val="7A7A7A"/>
                </a:solidFill>
                <a:latin typeface="Pretendard"/>
              </a:rPr>
              <a:t>+15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1737360"/>
            <a:ext cx="7086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spc="-16">
                <a:solidFill>
                  <a:srgbClr val="00754A"/>
                </a:solidFill>
                <a:latin typeface="Pretendard"/>
              </a:rPr>
              <a:t>+0.6 (95% CI -4.5 to +5.7)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607040" y="2331720"/>
            <a:ext cx="914400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007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607040" y="233172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spc="-14">
                <a:solidFill>
                  <a:srgbClr val="1F1F1F"/>
                </a:solidFill>
                <a:latin typeface="Pretendard"/>
              </a:rPr>
              <a:t>p = 0.82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3703320"/>
            <a:ext cx="11201400" cy="2011680"/>
          </a:xfrm>
          <a:prstGeom prst="roundRect">
            <a:avLst>
              <a:gd name="adj" fmla="val 3636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02920" y="3703320"/>
            <a:ext cx="73152" cy="2011680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3867911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spc="-20">
                <a:solidFill>
                  <a:srgbClr val="161616"/>
                </a:solidFill>
                <a:latin typeface="Pretendard"/>
              </a:rPr>
              <a:t>Trial 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233672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spc="-12">
                <a:solidFill>
                  <a:srgbClr val="7A7A7A"/>
                </a:solidFill>
                <a:latin typeface="Pretendard"/>
              </a:rPr>
              <a:t>Journal  ·  YYYY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617720"/>
            <a:ext cx="1097280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006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" y="4617720"/>
            <a:ext cx="10972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spc="-14">
                <a:solidFill>
                  <a:srgbClr val="1F1F1F"/>
                </a:solidFill>
                <a:latin typeface="Pretendard"/>
              </a:rPr>
              <a:t>Cohort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65960" y="4617720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 spc="-14">
                <a:solidFill>
                  <a:srgbClr val="7A7A7A"/>
                </a:solidFill>
                <a:latin typeface="Pretendard"/>
              </a:rPr>
              <a:t>n = 106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57244" y="4297680"/>
            <a:ext cx="6047232" cy="822960"/>
          </a:xfrm>
          <a:prstGeom prst="rect">
            <a:avLst/>
          </a:prstGeom>
          <a:solidFill>
            <a:srgbClr val="D4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849928" y="4297680"/>
            <a:ext cx="14630" cy="822960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897160" y="4297680"/>
            <a:ext cx="14630" cy="822960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876288" y="4297680"/>
            <a:ext cx="9144" cy="82296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518660" y="4672584"/>
            <a:ext cx="2598420" cy="73152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507687" y="4544568"/>
            <a:ext cx="21945" cy="329184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106107" y="4544568"/>
            <a:ext cx="21945" cy="329184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Diamond 43"/>
          <p:cNvSpPr/>
          <p:nvPr/>
        </p:nvSpPr>
        <p:spPr>
          <a:xfrm>
            <a:off x="5562600" y="4572000"/>
            <a:ext cx="274320" cy="274320"/>
          </a:xfrm>
          <a:prstGeom prst="diamond">
            <a:avLst/>
          </a:prstGeom>
          <a:solidFill>
            <a:srgbClr val="006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971800" y="516636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spc="-12">
                <a:solidFill>
                  <a:srgbClr val="7A7A7A"/>
                </a:solidFill>
                <a:latin typeface="Pretendard"/>
              </a:rPr>
              <a:t>−15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91484" y="516636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spc="-12">
                <a:solidFill>
                  <a:srgbClr val="006241"/>
                </a:solidFill>
                <a:latin typeface="Pretendard"/>
              </a:rPr>
              <a:t>−12.8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15100" y="516636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spc="-12">
                <a:solidFill>
                  <a:srgbClr val="7A7A7A"/>
                </a:solidFill>
                <a:latin typeface="Pretendard"/>
              </a:rPr>
              <a:t>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38716" y="516636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spc="-12">
                <a:solidFill>
                  <a:srgbClr val="006241"/>
                </a:solidFill>
                <a:latin typeface="Pretendard"/>
              </a:rPr>
              <a:t>+12.8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8400" y="516636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spc="-12">
                <a:solidFill>
                  <a:srgbClr val="7A7A7A"/>
                </a:solidFill>
                <a:latin typeface="Pretendard"/>
              </a:rPr>
              <a:t>+15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37560" y="3931920"/>
            <a:ext cx="7086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spc="-16">
                <a:solidFill>
                  <a:srgbClr val="006241"/>
                </a:solidFill>
                <a:latin typeface="Pretendard"/>
              </a:rPr>
              <a:t>-5.0 (95% CI -10 to +1)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607040" y="4526280"/>
            <a:ext cx="914400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006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607040" y="452628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spc="-14">
                <a:solidFill>
                  <a:srgbClr val="1F1F1F"/>
                </a:solidFill>
                <a:latin typeface="Pretendard"/>
              </a:rPr>
              <a:t>p = 0.12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37560" y="58521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spc="-12">
                <a:solidFill>
                  <a:srgbClr val="7A7A7A"/>
                </a:solidFill>
                <a:latin typeface="Pretendard"/>
              </a:rPr>
              <a:t>Mean difference  (Intervention − Comparator)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02920" y="6172200"/>
            <a:ext cx="11201400" cy="365760"/>
          </a:xfrm>
          <a:prstGeom prst="roundRect">
            <a:avLst>
              <a:gd name="adj" fmla="val 12500"/>
            </a:avLst>
          </a:prstGeom>
          <a:noFill/>
          <a:ln w="12700">
            <a:solidFill>
              <a:srgbClr val="1E3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85800" y="6172200"/>
            <a:ext cx="10835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 spc="-14">
                <a:solidFill>
                  <a:srgbClr val="1F1F1F"/>
                </a:solidFill>
                <a:latin typeface="Pretendard"/>
              </a:rPr>
              <a:t>✓  Both 95% CIs lie within the ±12.8 equivalence margin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8257" y="662025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-9">
                <a:solidFill>
                  <a:srgbClr val="8E8E93"/>
                </a:solidFill>
                <a:latin typeface="Pretendard"/>
              </a:rPr>
              <a:t>11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67403" y="6617421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 spc="-8">
                <a:solidFill>
                  <a:srgbClr val="8E8E93"/>
                </a:solidFill>
                <a:latin typeface="Pretendard"/>
              </a:rPr>
              <a:t>Source: study cohort  ·  n = NN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688836" y="0"/>
            <a:ext cx="5472684" cy="6858000"/>
          </a:xfrm>
          <a:prstGeom prst="rect">
            <a:avLst/>
          </a:prstGeom>
          <a:solidFill>
            <a:srgbClr val="F2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rcRect l="3240" t="21391" r="16358" b="11330"/>
          <a:stretch>
            <a:fillRect/>
          </a:stretch>
        </p:blipFill>
        <p:spPr>
          <a:xfrm>
            <a:off x="10748356" y="11978"/>
            <a:ext cx="1443644" cy="7985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2286000"/>
            <a:ext cx="8229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200" b="1" i="0" spc="-72">
                <a:solidFill>
                  <a:srgbClr val="006241"/>
                </a:solidFill>
                <a:latin typeface="Pretendard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1" spc="-20">
                <a:solidFill>
                  <a:srgbClr val="6B6B6B"/>
                </a:solidFill>
                <a:latin typeface="Pretendard"/>
              </a:rPr>
              <a:t>Questions and 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572000"/>
            <a:ext cx="1645920" cy="36576"/>
          </a:xfrm>
          <a:prstGeom prst="rect">
            <a:avLst/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66503" y="5102352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500" b="0" i="0" spc="-15">
                <a:solidFill>
                  <a:srgbClr val="6B6B6B"/>
                </a:solidFill>
                <a:latin typeface="Pretendard"/>
              </a:rPr>
              <a:t>Seoul National Univ. Bundang Hospital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66503" y="5477621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200" b="1" i="0" spc="-22">
                <a:solidFill>
                  <a:srgbClr val="1F1F1F"/>
                </a:solidFill>
                <a:latin typeface="Pretendard"/>
              </a:rPr>
              <a:t>Sang-Min Park, MD, PhD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2216" y="6378122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spc="-14">
                <a:solidFill>
                  <a:srgbClr val="6B6B6B"/>
                </a:solidFill>
                <a:latin typeface="Pretendard"/>
              </a:rPr>
              <a:t>Conference name   |   YYYY.MM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8257" y="12344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-11">
                <a:solidFill>
                  <a:srgbClr val="8E8E93"/>
                </a:solidFill>
                <a:latin typeface="Pretendard"/>
              </a:rPr>
              <a:t>PATTERN J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rcRect l="3240" t="21391" r="16358" b="11330"/>
          <a:stretch>
            <a:fillRect/>
          </a:stretch>
        </p:blipFill>
        <p:spPr>
          <a:xfrm>
            <a:off x="10748356" y="11978"/>
            <a:ext cx="1443644" cy="7985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1460" y="4362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 spc="-30">
                <a:solidFill>
                  <a:srgbClr val="006241"/>
                </a:solidFill>
                <a:latin typeface="Pretendard"/>
              </a:rPr>
              <a:t>Timeline — Milestone Track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642" y="1290309"/>
            <a:ext cx="11699382" cy="5227350"/>
          </a:xfrm>
          <a:prstGeom prst="roundRect">
            <a:avLst>
              <a:gd name="adj" fmla="val 209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38257" y="662025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-9">
                <a:solidFill>
                  <a:srgbClr val="8E8E93"/>
                </a:solidFill>
                <a:latin typeface="Pretendard"/>
              </a:rPr>
              <a:t>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67403" y="6617421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 spc="-8">
                <a:solidFill>
                  <a:srgbClr val="8E8E93"/>
                </a:solidFill>
                <a:latin typeface="Pretendard"/>
              </a:rPr>
              <a:t>Source: study cohort  ·  n = NN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" y="3310128"/>
            <a:ext cx="10332720" cy="32004"/>
          </a:xfrm>
          <a:prstGeom prst="rect">
            <a:avLst/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13816" y="3259836"/>
            <a:ext cx="201168" cy="201168"/>
          </a:xfrm>
          <a:prstGeom prst="ellipse">
            <a:avLst/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-91440" y="2697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spc="-18">
                <a:solidFill>
                  <a:srgbClr val="006241"/>
                </a:solidFill>
                <a:latin typeface="Pretendard"/>
              </a:rPr>
              <a:t>2018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-182879" y="3639312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spc="-12">
                <a:solidFill>
                  <a:srgbClr val="1F1F1F"/>
                </a:solidFill>
                <a:latin typeface="Pretendard"/>
              </a:rPr>
              <a:t>Single-center</a:t>
            </a:r>
          </a:p>
          <a:p>
            <a:pPr algn="ctr"/>
            <a:r>
              <a:rPr sz="1200" b="0" spc="-12">
                <a:solidFill>
                  <a:srgbClr val="1F1F1F"/>
                </a:solidFill>
                <a:latin typeface="Pretendard"/>
              </a:rPr>
              <a:t>pilot</a:t>
            </a:r>
          </a:p>
        </p:txBody>
      </p:sp>
      <p:sp>
        <p:nvSpPr>
          <p:cNvPr id="41" name="Oval 40"/>
          <p:cNvSpPr/>
          <p:nvPr/>
        </p:nvSpPr>
        <p:spPr>
          <a:xfrm>
            <a:off x="3396996" y="3259836"/>
            <a:ext cx="201168" cy="201168"/>
          </a:xfrm>
          <a:prstGeom prst="ellipse">
            <a:avLst/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91740" y="2697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spc="-18">
                <a:solidFill>
                  <a:srgbClr val="006241"/>
                </a:solidFill>
                <a:latin typeface="Pretendard"/>
              </a:rPr>
              <a:t>2020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00300" y="3639312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spc="-12">
                <a:solidFill>
                  <a:srgbClr val="1F1F1F"/>
                </a:solidFill>
                <a:latin typeface="Pretendard"/>
              </a:rPr>
              <a:t>Multicenter</a:t>
            </a:r>
          </a:p>
          <a:p>
            <a:pPr algn="ctr"/>
            <a:r>
              <a:rPr sz="1200" b="0" spc="-12">
                <a:solidFill>
                  <a:srgbClr val="1F1F1F"/>
                </a:solidFill>
                <a:latin typeface="Pretendard"/>
              </a:rPr>
              <a:t>protocol</a:t>
            </a:r>
          </a:p>
        </p:txBody>
      </p:sp>
      <p:sp>
        <p:nvSpPr>
          <p:cNvPr id="44" name="Oval 43"/>
          <p:cNvSpPr/>
          <p:nvPr/>
        </p:nvSpPr>
        <p:spPr>
          <a:xfrm>
            <a:off x="5980176" y="3259836"/>
            <a:ext cx="201168" cy="201168"/>
          </a:xfrm>
          <a:prstGeom prst="ellipse">
            <a:avLst/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74920" y="2697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spc="-18">
                <a:solidFill>
                  <a:srgbClr val="006241"/>
                </a:solidFill>
                <a:latin typeface="Pretendard"/>
              </a:rPr>
              <a:t>2021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83480" y="3639312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spc="-12">
                <a:solidFill>
                  <a:srgbClr val="1F1F1F"/>
                </a:solidFill>
                <a:latin typeface="Pretendard"/>
              </a:rPr>
              <a:t>First RCT</a:t>
            </a:r>
          </a:p>
          <a:p>
            <a:pPr algn="ctr"/>
            <a:r>
              <a:rPr sz="1200" b="0" spc="-12">
                <a:solidFill>
                  <a:srgbClr val="1F1F1F"/>
                </a:solidFill>
                <a:latin typeface="Pretendard"/>
              </a:rPr>
              <a:t>enrolment</a:t>
            </a:r>
          </a:p>
        </p:txBody>
      </p:sp>
      <p:sp>
        <p:nvSpPr>
          <p:cNvPr id="47" name="Oval 46"/>
          <p:cNvSpPr/>
          <p:nvPr/>
        </p:nvSpPr>
        <p:spPr>
          <a:xfrm>
            <a:off x="8563356" y="3259836"/>
            <a:ext cx="201168" cy="201168"/>
          </a:xfrm>
          <a:prstGeom prst="ellipse">
            <a:avLst/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58100" y="2697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spc="-18">
                <a:solidFill>
                  <a:srgbClr val="006241"/>
                </a:solidFill>
                <a:latin typeface="Pretendard"/>
              </a:rPr>
              <a:t>2023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66660" y="3639312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spc="-12">
                <a:solidFill>
                  <a:srgbClr val="1F1F1F"/>
                </a:solidFill>
                <a:latin typeface="Pretendard"/>
              </a:rPr>
              <a:t>Two RCTs</a:t>
            </a:r>
          </a:p>
          <a:p>
            <a:pPr algn="ctr"/>
            <a:r>
              <a:rPr sz="1200" b="0" spc="-12">
                <a:solidFill>
                  <a:srgbClr val="1F1F1F"/>
                </a:solidFill>
                <a:latin typeface="Pretendard"/>
              </a:rPr>
              <a:t>completed</a:t>
            </a:r>
          </a:p>
        </p:txBody>
      </p:sp>
      <p:sp>
        <p:nvSpPr>
          <p:cNvPr id="50" name="Oval 49"/>
          <p:cNvSpPr/>
          <p:nvPr/>
        </p:nvSpPr>
        <p:spPr>
          <a:xfrm>
            <a:off x="11146536" y="3259836"/>
            <a:ext cx="201168" cy="201168"/>
          </a:xfrm>
          <a:prstGeom prst="ellipse">
            <a:avLst/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241280" y="2697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spc="-18">
                <a:solidFill>
                  <a:srgbClr val="006241"/>
                </a:solidFill>
                <a:latin typeface="Pretendard"/>
              </a:rPr>
              <a:t>2025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49840" y="3639312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spc="-12">
                <a:solidFill>
                  <a:srgbClr val="1F1F1F"/>
                </a:solidFill>
                <a:latin typeface="Pretendard"/>
              </a:rPr>
              <a:t>Pooled</a:t>
            </a:r>
          </a:p>
          <a:p>
            <a:pPr algn="ctr"/>
            <a:r>
              <a:rPr sz="1200" b="0" spc="-12">
                <a:solidFill>
                  <a:srgbClr val="1F1F1F"/>
                </a:solidFill>
                <a:latin typeface="Pretendard"/>
              </a:rPr>
              <a:t>analyses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8257" y="12344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-11">
                <a:solidFill>
                  <a:srgbClr val="8E8E93"/>
                </a:solidFill>
                <a:latin typeface="Pretendard"/>
              </a:rPr>
              <a:t>PATTERN K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rcRect l="3240" t="21391" r="16358" b="11330"/>
          <a:stretch>
            <a:fillRect/>
          </a:stretch>
        </p:blipFill>
        <p:spPr>
          <a:xfrm>
            <a:off x="10748356" y="11978"/>
            <a:ext cx="1443644" cy="7985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1460" y="4362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 spc="-30">
                <a:solidFill>
                  <a:srgbClr val="006241"/>
                </a:solidFill>
                <a:latin typeface="Pretendard"/>
              </a:rPr>
              <a:t>Process Flow — CONSORT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642" y="1290309"/>
            <a:ext cx="11699382" cy="5227350"/>
          </a:xfrm>
          <a:prstGeom prst="roundRect">
            <a:avLst>
              <a:gd name="adj" fmla="val 209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38257" y="662025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-9">
                <a:solidFill>
                  <a:srgbClr val="8E8E93"/>
                </a:solidFill>
                <a:latin typeface="Pretendard"/>
              </a:rPr>
              <a:t>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67403" y="6617421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 spc="-8">
                <a:solidFill>
                  <a:srgbClr val="8E8E93"/>
                </a:solidFill>
                <a:latin typeface="Pretendard"/>
              </a:rPr>
              <a:t>Source: study cohort  ·  n = NN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2834640"/>
            <a:ext cx="2468880" cy="1325880"/>
          </a:xfrm>
          <a:prstGeom prst="roundRect">
            <a:avLst/>
          </a:prstGeom>
          <a:noFill/>
          <a:ln w="15875">
            <a:solidFill>
              <a:srgbClr val="007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31546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spc="-15">
                <a:solidFill>
                  <a:srgbClr val="1F1F1F"/>
                </a:solidFill>
                <a:latin typeface="Pretendard"/>
              </a:rPr>
              <a:t>Assessed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3611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spc="-13">
                <a:solidFill>
                  <a:srgbClr val="6B6B6B"/>
                </a:solidFill>
                <a:latin typeface="Pretendard"/>
              </a:rPr>
              <a:t>n = NNN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91840" y="2834640"/>
            <a:ext cx="2468880" cy="1325880"/>
          </a:xfrm>
          <a:prstGeom prst="roundRect">
            <a:avLst/>
          </a:prstGeom>
          <a:noFill/>
          <a:ln w="15875">
            <a:solidFill>
              <a:srgbClr val="007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91840" y="31546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spc="-15">
                <a:solidFill>
                  <a:srgbClr val="1F1F1F"/>
                </a:solidFill>
                <a:latin typeface="Pretendard"/>
              </a:rPr>
              <a:t>Randomized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91840" y="3611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spc="-13">
                <a:solidFill>
                  <a:srgbClr val="6B6B6B"/>
                </a:solidFill>
                <a:latin typeface="Pretendard"/>
              </a:rPr>
              <a:t>n = NNN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80760" y="2834640"/>
            <a:ext cx="2468880" cy="1325880"/>
          </a:xfrm>
          <a:prstGeom prst="roundRect">
            <a:avLst/>
          </a:prstGeom>
          <a:noFill/>
          <a:ln w="15875">
            <a:solidFill>
              <a:srgbClr val="007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80760" y="31546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spc="-15">
                <a:solidFill>
                  <a:srgbClr val="1F1F1F"/>
                </a:solidFill>
                <a:latin typeface="Pretendard"/>
              </a:rPr>
              <a:t>Allocated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80760" y="3611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spc="-13">
                <a:solidFill>
                  <a:srgbClr val="6B6B6B"/>
                </a:solidFill>
                <a:latin typeface="Pretendard"/>
              </a:rPr>
              <a:t>n = NN / NN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869680" y="2834640"/>
            <a:ext cx="2468880" cy="1325880"/>
          </a:xfrm>
          <a:prstGeom prst="roundRect">
            <a:avLst/>
          </a:prstGeom>
          <a:noFill/>
          <a:ln w="15875">
            <a:solidFill>
              <a:srgbClr val="007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69680" y="31546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spc="-15">
                <a:solidFill>
                  <a:srgbClr val="1F1F1F"/>
                </a:solidFill>
                <a:latin typeface="Pretendard"/>
              </a:rPr>
              <a:t>Analyzed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69680" y="3611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spc="-13">
                <a:solidFill>
                  <a:srgbClr val="6B6B6B"/>
                </a:solidFill>
                <a:latin typeface="Pretendard"/>
              </a:rPr>
              <a:t>n = NN / NN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2990088" y="3364992"/>
            <a:ext cx="256032" cy="274320"/>
          </a:xfrm>
          <a:prstGeom prst="rightArrow">
            <a:avLst/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ight Arrow 49"/>
          <p:cNvSpPr/>
          <p:nvPr/>
        </p:nvSpPr>
        <p:spPr>
          <a:xfrm>
            <a:off x="5779008" y="3364992"/>
            <a:ext cx="256032" cy="274320"/>
          </a:xfrm>
          <a:prstGeom prst="rightArrow">
            <a:avLst/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ight Arrow 50"/>
          <p:cNvSpPr/>
          <p:nvPr/>
        </p:nvSpPr>
        <p:spPr>
          <a:xfrm>
            <a:off x="8567928" y="3364992"/>
            <a:ext cx="256032" cy="274320"/>
          </a:xfrm>
          <a:prstGeom prst="rightArrow">
            <a:avLst/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Down Arrow 51"/>
          <p:cNvSpPr/>
          <p:nvPr/>
        </p:nvSpPr>
        <p:spPr>
          <a:xfrm>
            <a:off x="4434840" y="4297680"/>
            <a:ext cx="201168" cy="320040"/>
          </a:xfrm>
          <a:prstGeom prst="downArrow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3291840" y="4663440"/>
            <a:ext cx="2468880" cy="868680"/>
          </a:xfrm>
          <a:prstGeom prst="roundRect">
            <a:avLst/>
          </a:prstGeom>
          <a:noFill/>
          <a:ln w="12700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91840" y="48006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spc="-11">
                <a:solidFill>
                  <a:srgbClr val="6B6B6B"/>
                </a:solidFill>
                <a:latin typeface="Pretendard"/>
              </a:rPr>
              <a:t>Excluded (n = NN)</a:t>
            </a:r>
          </a:p>
          <a:p>
            <a:pPr algn="ctr"/>
            <a:r>
              <a:rPr sz="1100" b="0" spc="-11">
                <a:solidFill>
                  <a:srgbClr val="6B6B6B"/>
                </a:solidFill>
                <a:latin typeface="Pretendard"/>
              </a:rPr>
              <a:t>– reason / criterion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592</Words>
  <Application>Microsoft Office PowerPoint</Application>
  <PresentationFormat>와이드스크린</PresentationFormat>
  <Paragraphs>187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Pretendard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Sangmin Park</cp:lastModifiedBy>
  <cp:revision>1</cp:revision>
  <dcterms:created xsi:type="dcterms:W3CDTF">2013-01-27T09:14:16Z</dcterms:created>
  <dcterms:modified xsi:type="dcterms:W3CDTF">2026-06-06T15:28:25Z</dcterms:modified>
  <cp:category/>
</cp:coreProperties>
</file>